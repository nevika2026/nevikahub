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35fa89c437496f" /><Relationship Type="http://schemas.openxmlformats.org/officeDocument/2006/relationships/extended-properties" Target="/docProps/app.xml" Id="R483697289c0a4397" /><Relationship Type="http://schemas.openxmlformats.org/officeDocument/2006/relationships/officeDocument" Target="/ppt/presentation.xml" Id="Rabe7f58542dc4d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47d32c0ead4122"/>
  </p:sldMasterIdLst>
  <p:notesMasterIdLst>
    <p:notesMasterId xmlns:r="http://schemas.openxmlformats.org/officeDocument/2006/relationships" r:id="Rda8ab3c605fa4e0f"/>
  </p:notesMasterIdLst>
  <p:sldIdLst>
    <p:sldId xmlns:r="http://schemas.openxmlformats.org/officeDocument/2006/relationships" id="256" r:id="R3c61b561fe13453f"/>
    <p:sldId xmlns:r="http://schemas.openxmlformats.org/officeDocument/2006/relationships" id="257" r:id="R7614ab4fcebb4989"/>
    <p:sldId xmlns:r="http://schemas.openxmlformats.org/officeDocument/2006/relationships" id="258" r:id="R89e31d134e154bc8"/>
    <p:sldId xmlns:r="http://schemas.openxmlformats.org/officeDocument/2006/relationships" id="259" r:id="R86247ea6a89f4174"/>
    <p:sldId xmlns:r="http://schemas.openxmlformats.org/officeDocument/2006/relationships" id="260" r:id="R25b6588288a84a61"/>
    <p:sldId xmlns:r="http://schemas.openxmlformats.org/officeDocument/2006/relationships" id="261" r:id="Rb10fdd3abb7d4434"/>
    <p:sldId xmlns:r="http://schemas.openxmlformats.org/officeDocument/2006/relationships" id="262" r:id="Ra0721467eea14e9d"/>
    <p:sldId xmlns:r="http://schemas.openxmlformats.org/officeDocument/2006/relationships" id="263" r:id="Rf4d08e3b873d4b24"/>
    <p:sldId xmlns:r="http://schemas.openxmlformats.org/officeDocument/2006/relationships" id="264" r:id="R8a91dd0934ee4610"/>
    <p:sldId xmlns:r="http://schemas.openxmlformats.org/officeDocument/2006/relationships" id="265" r:id="Ra19dae932ea74f36"/>
    <p:sldId xmlns:r="http://schemas.openxmlformats.org/officeDocument/2006/relationships" id="266" r:id="Ra1dc37e1687a49c8"/>
    <p:sldId xmlns:r="http://schemas.openxmlformats.org/officeDocument/2006/relationships" id="267" r:id="R5427ee8d05db4ac8"/>
    <p:sldId xmlns:r="http://schemas.openxmlformats.org/officeDocument/2006/relationships" id="268" r:id="R39734964f8294022"/>
    <p:sldId xmlns:r="http://schemas.openxmlformats.org/officeDocument/2006/relationships" id="269" r:id="R63d0a41ea6214107"/>
    <p:sldId xmlns:r="http://schemas.openxmlformats.org/officeDocument/2006/relationships" id="270" r:id="Rddc4e78e802545c8"/>
    <p:sldId xmlns:r="http://schemas.openxmlformats.org/officeDocument/2006/relationships" id="271" r:id="Rececce743e72401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39589579d94092" /><Relationship Type="http://schemas.openxmlformats.org/officeDocument/2006/relationships/slideMaster" Target="/ppt/slideMasters/slideMaster1.xml" Id="Rd847d32c0ead4122" /><Relationship Type="http://schemas.openxmlformats.org/officeDocument/2006/relationships/notesMaster" Target="/ppt/notesMasters/notesMaster1.xml" Id="Rda8ab3c605fa4e0f" /><Relationship Type="http://schemas.openxmlformats.org/officeDocument/2006/relationships/presProps" Target="/ppt/presProps.xml" Id="R19b074cbf1e94285" /><Relationship Type="http://schemas.openxmlformats.org/officeDocument/2006/relationships/tableStyles" Target="/ppt/tableStyles.xml" Id="Rdcf60e5358644b76" /><Relationship Type="http://schemas.openxmlformats.org/officeDocument/2006/relationships/slide" Target="/ppt/slides/slide1.xml" Id="R3c61b561fe13453f" /><Relationship Type="http://schemas.openxmlformats.org/officeDocument/2006/relationships/slide" Target="/ppt/slides/slide2.xml" Id="R7614ab4fcebb4989" /><Relationship Type="http://schemas.openxmlformats.org/officeDocument/2006/relationships/slide" Target="/ppt/slides/slide3.xml" Id="R89e31d134e154bc8" /><Relationship Type="http://schemas.openxmlformats.org/officeDocument/2006/relationships/slide" Target="/ppt/slides/slide4.xml" Id="R86247ea6a89f4174" /><Relationship Type="http://schemas.openxmlformats.org/officeDocument/2006/relationships/slide" Target="/ppt/slides/slide5.xml" Id="R25b6588288a84a61" /><Relationship Type="http://schemas.openxmlformats.org/officeDocument/2006/relationships/slide" Target="/ppt/slides/slide6.xml" Id="Rb10fdd3abb7d4434" /><Relationship Type="http://schemas.openxmlformats.org/officeDocument/2006/relationships/slide" Target="/ppt/slides/slide7.xml" Id="Ra0721467eea14e9d" /><Relationship Type="http://schemas.openxmlformats.org/officeDocument/2006/relationships/slide" Target="/ppt/slides/slide8.xml" Id="Rf4d08e3b873d4b24" /><Relationship Type="http://schemas.openxmlformats.org/officeDocument/2006/relationships/slide" Target="/ppt/slides/slide9.xml" Id="R8a91dd0934ee4610" /><Relationship Type="http://schemas.openxmlformats.org/officeDocument/2006/relationships/slide" Target="/ppt/slides/slide10.xml" Id="Ra19dae932ea74f36" /><Relationship Type="http://schemas.openxmlformats.org/officeDocument/2006/relationships/slide" Target="/ppt/slides/slide11.xml" Id="Ra1dc37e1687a49c8" /><Relationship Type="http://schemas.openxmlformats.org/officeDocument/2006/relationships/slide" Target="/ppt/slides/slide12.xml" Id="R5427ee8d05db4ac8" /><Relationship Type="http://schemas.openxmlformats.org/officeDocument/2006/relationships/slide" Target="/ppt/slides/slide13.xml" Id="R39734964f8294022" /><Relationship Type="http://schemas.openxmlformats.org/officeDocument/2006/relationships/slide" Target="/ppt/slides/slide14.xml" Id="R63d0a41ea6214107" /><Relationship Type="http://schemas.openxmlformats.org/officeDocument/2006/relationships/slide" Target="/ppt/slides/slide15.xml" Id="Rddc4e78e802545c8" /><Relationship Type="http://schemas.openxmlformats.org/officeDocument/2006/relationships/slide" Target="/ppt/slides/slide16.xml" Id="Rececce743e7240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19eb029de048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8aabd75a8b4ee4" /><Relationship Type="http://schemas.openxmlformats.org/officeDocument/2006/relationships/notesMaster" Target="/ppt/notesMasters/notesMaster1.xml" Id="R5dcaa764b1864e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6826a39e474018" /><Relationship Type="http://schemas.openxmlformats.org/officeDocument/2006/relationships/notesMaster" Target="/ppt/notesMasters/notesMaster1.xml" Id="R27ab4536097447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23ea0dc740440a" /><Relationship Type="http://schemas.openxmlformats.org/officeDocument/2006/relationships/notesMaster" Target="/ppt/notesMasters/notesMaster1.xml" Id="Ra6c29c5c35fc4d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8e5044c219492d" /><Relationship Type="http://schemas.openxmlformats.org/officeDocument/2006/relationships/notesMaster" Target="/ppt/notesMasters/notesMaster1.xml" Id="R50c4b453ea5e41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02df0dfd6043b2" /><Relationship Type="http://schemas.openxmlformats.org/officeDocument/2006/relationships/notesMaster" Target="/ppt/notesMasters/notesMaster1.xml" Id="Rde1d2afd10dd4f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4c79e8dedc4868" /><Relationship Type="http://schemas.openxmlformats.org/officeDocument/2006/relationships/notesMaster" Target="/ppt/notesMasters/notesMaster1.xml" Id="R2f2d07b600c544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9fe4a0831294665" /><Relationship Type="http://schemas.openxmlformats.org/officeDocument/2006/relationships/notesMaster" Target="/ppt/notesMasters/notesMaster1.xml" Id="Rb4f424d937f449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c432a3da7346eb" /><Relationship Type="http://schemas.openxmlformats.org/officeDocument/2006/relationships/notesMaster" Target="/ppt/notesMasters/notesMaster1.xml" Id="R7a5c6c6b76a945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a09b27bc5a445d" /><Relationship Type="http://schemas.openxmlformats.org/officeDocument/2006/relationships/notesMaster" Target="/ppt/notesMasters/notesMaster1.xml" Id="Rf201c6e969ac4d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185cc399fe84e95" /><Relationship Type="http://schemas.openxmlformats.org/officeDocument/2006/relationships/notesMaster" Target="/ppt/notesMasters/notesMaster1.xml" Id="R0cd427b7907b43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11f8359cfcd4c5b" /><Relationship Type="http://schemas.openxmlformats.org/officeDocument/2006/relationships/notesMaster" Target="/ppt/notesMasters/notesMaster1.xml" Id="Ra28dae5c405e4a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e302bc87af49fb" /><Relationship Type="http://schemas.openxmlformats.org/officeDocument/2006/relationships/notesMaster" Target="/ppt/notesMasters/notesMaster1.xml" Id="Rbf4366ba987547c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4f8d287f76409c" /><Relationship Type="http://schemas.openxmlformats.org/officeDocument/2006/relationships/notesMaster" Target="/ppt/notesMasters/notesMaster1.xml" Id="Re7c5d83a9110403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be2d7c058764c6c" /><Relationship Type="http://schemas.openxmlformats.org/officeDocument/2006/relationships/notesMaster" Target="/ppt/notesMasters/notesMaster1.xml" Id="R4456c1e0421f441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4ca384fded44d59" /><Relationship Type="http://schemas.openxmlformats.org/officeDocument/2006/relationships/notesMaster" Target="/ppt/notesMasters/notesMaster1.xml" Id="R65a55df21f354ea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7b7dccdf99a4126" /><Relationship Type="http://schemas.openxmlformats.org/officeDocument/2006/relationships/notesMaster" Target="/ppt/notesMasters/notesMaster1.xml" Id="Re6b3e7a43f2148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42423a3d6c49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5472080f4840c0" /><Relationship Type="http://schemas.openxmlformats.org/officeDocument/2006/relationships/slideLayout" Target="/ppt/slideLayouts/slideLayout1.xml" Id="Rcbc08e997f3a41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c08e997f3a41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5439574974505" /><Relationship Type="http://schemas.openxmlformats.org/officeDocument/2006/relationships/image" Target="/ppt/media/image.jpeg" Id="R817e038b46d6419e" /><Relationship Type="http://schemas.openxmlformats.org/officeDocument/2006/relationships/notesSlide" Target="/ppt/notesSlides/notesSlide1.xml" Id="R8411799ff87b4a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edc43753c467b" /><Relationship Type="http://schemas.openxmlformats.org/officeDocument/2006/relationships/notesSlide" Target="/ppt/notesSlides/notesSlide2.xml" Id="R6002c669af2e4f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8cb08175d4b9b" /><Relationship Type="http://schemas.openxmlformats.org/officeDocument/2006/relationships/notesSlide" Target="/ppt/notesSlides/notesSlide3.xml" Id="R5304538b682342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e1a508e0d4d1e" /><Relationship Type="http://schemas.openxmlformats.org/officeDocument/2006/relationships/notesSlide" Target="/ppt/notesSlides/notesSlide4.xml" Id="R6d2a54bd55c84a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230146c684687" /><Relationship Type="http://schemas.openxmlformats.org/officeDocument/2006/relationships/notesSlide" Target="/ppt/notesSlides/notesSlide5.xml" Id="Reeb5bde19aeb44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95ba97de0436f" /><Relationship Type="http://schemas.openxmlformats.org/officeDocument/2006/relationships/notesSlide" Target="/ppt/notesSlides/notesSlide6.xml" Id="R9fcf62caed8f41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e3b249a964b2b" /><Relationship Type="http://schemas.openxmlformats.org/officeDocument/2006/relationships/notesSlide" Target="/ppt/notesSlides/notesSlide7.xml" Id="Ra9acce880e1143e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6e9e71b1fa416c" /><Relationship Type="http://schemas.openxmlformats.org/officeDocument/2006/relationships/notesSlide" Target="/ppt/notesSlides/notesSlide8.xml" Id="Rc4fdc074daf34e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9471c0db040cf" /><Relationship Type="http://schemas.openxmlformats.org/officeDocument/2006/relationships/notesSlide" Target="/ppt/notesSlides/notesSlide9.xml" Id="R54f32935ddf14a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81021a255414b" /><Relationship Type="http://schemas.openxmlformats.org/officeDocument/2006/relationships/notesSlide" Target="/ppt/notesSlides/notesSlide10.xml" Id="Reee6bdd75bf643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2deb8a1354c6f" /><Relationship Type="http://schemas.openxmlformats.org/officeDocument/2006/relationships/notesSlide" Target="/ppt/notesSlides/notesSlide11.xml" Id="Rb3b562dca0c5430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5e6bb93f74137" /><Relationship Type="http://schemas.openxmlformats.org/officeDocument/2006/relationships/notesSlide" Target="/ppt/notesSlides/notesSlide12.xml" Id="R4f0e8b90c00f4f4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d0f69f4384941" /><Relationship Type="http://schemas.openxmlformats.org/officeDocument/2006/relationships/notesSlide" Target="/ppt/notesSlides/notesSlide13.xml" Id="R882888a0f57f44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ce93963c04de6" /><Relationship Type="http://schemas.openxmlformats.org/officeDocument/2006/relationships/notesSlide" Target="/ppt/notesSlides/notesSlide14.xml" Id="R2e351f2ad9f146f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3155181784bca" /><Relationship Type="http://schemas.openxmlformats.org/officeDocument/2006/relationships/notesSlide" Target="/ppt/notesSlides/notesSlide15.xml" Id="Re6c6616874bd429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32322bbf64356" /><Relationship Type="http://schemas.openxmlformats.org/officeDocument/2006/relationships/notesSlide" Target="/ppt/notesSlides/notesSlide16.xml" Id="R28dad6d3951147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1BA986-B919-49BB-BD31-4D80DC3B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ЭКСПЕРТ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63014-2243-4B46-9075-09FFD6C2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F8B8B8-4E64-4141-863B-6711A86D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31FCB-B552-43D2-B950-232D7B6E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38250"/>
            <a:ext cx="3371850" cy="40957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e038b46d6419e"/>
          <a:srcRect xmlns:a="http://schemas.openxmlformats.org/drawingml/2006/main" l="0" t="9515" r="0" b="95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047750"/>
            <a:ext cx="3371850" cy="4095750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1369F4-7D84-4D43-B8BB-2304C18C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382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F2A37"/>
                </a:solidFill>
              </a:defRPr>
            </a:pPr>
            <a:r>
              <a:rPr sz="3150" b="1">
                <a:solidFill>
                  <a:srgbClr val="1F2A37"/>
                </a:solidFill>
              </a:rPr>
              <a:t>Екатерина Коптелова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C44F4-36AA-438C-ABA8-E972790E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6B75"/>
                </a:solidFill>
              </a:defRPr>
            </a:pPr>
            <a:r>
              <a:rPr sz="1650" b="1">
                <a:solidFill>
                  <a:srgbClr val="1F6B75"/>
                </a:solidFill>
              </a:rPr>
              <a:t>Финансы. Управленческий учет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D4E27-8729-49D5-A3B7-C08D42A9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6220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F2A37"/>
                </a:solidFill>
              </a:defRPr>
            </a:pPr>
            <a:r>
              <a:rPr sz="1575">
                <a:solidFill>
                  <a:srgbClr val="1F2A37"/>
                </a:solidFill>
              </a:rPr>
              <a:t>Собственник и руководитель бухгалтерского аутсорсинга.</a:t>
            </a:r>
          </a:p>
          <a:p xmlns:a="http://schemas.openxmlformats.org/drawingml/2006/main">
            <a:pPr>
              <a:defRPr sz="1575">
                <a:solidFill>
                  <a:srgbClr val="1F2A37"/>
                </a:solidFill>
              </a:defRPr>
            </a:pPr>
            <a:r>
              <a:rPr sz="1575">
                <a:solidFill>
                  <a:srgbClr val="1F2A37"/>
                </a:solidFill>
              </a:rPr>
              <a:t>В профессии с 2007 года, работает с предпринимателями и компаниями на этапе роста и перестройки процессов.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23794F-282E-4185-8DD1-DEAEACDD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19500"/>
            <a:ext cx="59055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20ED3-4E0C-47F1-9327-42F1D870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909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F1E7E7-0BEA-4729-AD2B-E1D0EC94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29050"/>
            <a:ext cx="552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Фокус экспертизы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95A43F-53D5-4D1B-A65F-A7F02C65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05300"/>
            <a:ext cx="552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Налоги, управленческий учет и практические решения для бизнеса в строительстве, образовании, торговле, производстве и инвестиционной деятельности.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F4361-1A9B-41B7-9FF6-49CF4B03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72100"/>
            <a:ext cx="14287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9153"/>
                </a:solidFill>
              </a:defRPr>
            </a:pPr>
            <a:r>
              <a:rPr sz="1050" b="1">
                <a:solidFill>
                  <a:srgbClr val="B99153"/>
                </a:solidFill>
              </a:rPr>
              <a:t>Аутсорсинг учета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AAB600-B430-4E3F-9F73-43EC661C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72100"/>
            <a:ext cx="12001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9153"/>
                </a:solidFill>
              </a:defRPr>
            </a:pPr>
            <a:r>
              <a:rPr sz="1050" b="1">
                <a:solidFill>
                  <a:srgbClr val="B99153"/>
                </a:solidFill>
              </a:rPr>
              <a:t>С 2007 года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98A9DF-C8B8-4396-990E-984A9FDA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372100"/>
            <a:ext cx="20383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9153"/>
                </a:solidFill>
              </a:defRPr>
            </a:pPr>
            <a:r>
              <a:rPr sz="1050" b="1">
                <a:solidFill>
                  <a:srgbClr val="B99153"/>
                </a:solidFill>
              </a:rPr>
              <a:t>Малый и средний бизнес</a:t>
            </a:r>
          </a:p>
        </p:txBody>
      </p:sp>
    </p:spTree>
    <p:extLst>
      <p:ext uri="{BB962C8B-B14F-4D97-AF65-F5344CB8AC3E}">
        <p14:creationId xmlns:p14="http://schemas.microsoft.com/office/powerpoint/2010/main" val="2874816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D65AFA-BD23-4C25-920F-058D4A26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ТЕМА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5E694-5D29-4010-8B8F-A18A3934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149F3-5C27-434C-BDFB-C0B7B558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B3001-7DB8-407F-AF64-9B1582C0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0820400" cy="4191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0AFC8-3381-4447-B14B-58ECB14F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3810000" cy="4191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0BD64-D352-47EE-974A-6C30F983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590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F2A37"/>
                </a:solidFill>
              </a:defRPr>
            </a:pPr>
            <a:r>
              <a:rPr sz="3450" b="1">
                <a:solidFill>
                  <a:srgbClr val="1F2A37"/>
                </a:solidFill>
              </a:rPr>
              <a:t>Какая система налогообложения работает на ваш бизнес, а не против него?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3FE3E6-96CA-4516-B0CF-B153955B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57182"/>
                </a:solidFill>
              </a:defRPr>
            </a:pPr>
            <a:r>
              <a:rPr sz="1650">
                <a:solidFill>
                  <a:srgbClr val="657182"/>
                </a:solidFill>
              </a:rPr>
              <a:t>Системы налогообложения. Триггерные точки. Пути решения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C6080-455B-4C2C-B2CE-AD753E84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57350"/>
            <a:ext cx="169545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D361C5-8F95-4C60-B142-E11DFB19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2880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Режим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3BF15-F6DD-4230-AABC-248DE9D2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4193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какую базу и ставку выбрать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62698-60D6-4E9D-8758-3278A722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657350"/>
            <a:ext cx="169545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714A69-474B-4017-A562-786673D4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82880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Риски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08950C-5470-4FC7-AE54-F408B3A4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193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где бизнес чаще теряет деньги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18BAE-F1F9-4E2D-907A-2FB9C1F0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86100"/>
            <a:ext cx="169545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1D1114-EBAD-4D7B-9991-74A64197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575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Сигналы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241D3-081B-4E46-B762-E0B2FCDF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8481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что видит налоговая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49050D-60A8-4F13-B542-87C77C49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86100"/>
            <a:ext cx="169545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456FA0-4788-4DE7-ABA8-726A19F1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575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Решения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69646-8A81-4F98-8B27-9D33FEEE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8481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как подготовиться заранее</a:t>
            </a:r>
          </a:p>
        </p:txBody>
      </p:sp>
    </p:spTree>
    <p:extLst>
      <p:ext uri="{BB962C8B-B14F-4D97-AF65-F5344CB8AC3E}">
        <p14:creationId xmlns:p14="http://schemas.microsoft.com/office/powerpoint/2010/main" val="1670587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CBF9D7-0F41-4C98-B28F-3EFD54AC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ОБЗОР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3632E8-ABC3-43BF-986D-B3C01040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3ED15-ECA9-4BDA-A003-02C976F5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16E0E-B453-43F4-AB53-18480CBF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Выбор режима начинается с шести базовых вариантов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26D8F-8B33-4FD8-886E-D2620192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Параметры показаны в обзорном формате по состоянию на 2026 год. Точные ставки и льготы зависят от региона и вида деятельности.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12AE38-EE2A-4579-9411-0275F15E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490B55-957F-488F-914E-5EA20B82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BE24D-223B-4D20-B377-EB9CCEC0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ОСНО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AA7D48-6F7F-43F5-AA0D-14852D18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крупный бизнес,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работа с НДС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25% прибыль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22% НДС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5BA6C2-87D9-4EF7-98BA-9873EA3C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8600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D7944D-EE4B-4983-ABDB-EC109916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3D9583-C61E-4B19-837F-9E04356B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955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УСН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1EDC0B-6265-4B69-A28A-FB382F7C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7180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малый и средний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бизнес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6% или 15%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64C40-89B6-45A4-82B7-FD9A7746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8600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66AC5-EB71-4A25-B862-21477BFEF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0CC1D-85B7-4F74-B1DC-D37898CF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955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АУСН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12E44-DC8D-4231-8859-7E05CF79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7180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микробизнес в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эксперименте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8% или 20%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15F3F-AAC7-4EC9-A4AD-1E4DC146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D3426A-A850-4FFF-9914-61096045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59A411-5FDF-47A0-A161-E31F2B3B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ПСН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654955-1432-4D92-B734-33F35F78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только для ИП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стоимость патента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538D86-E8B7-45FE-9613-959F2A72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22C6BD-5F27-47D6-8329-F2877F21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767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6EDD1F-6197-42AE-9BCF-C0049B72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ЕСХН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1E6C5-B256-4A72-8C1D-A5EBE465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9105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сельхозпроизводители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6% с базы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доходы минус расходы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CBAC26-3B01-4A98-8B5C-540CF520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0525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03C4F3-AF6D-441D-A6F8-2540AD28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767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200C8F-7C42-46C6-9D00-C0024674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148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НПД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E1254-DA25-4705-A994-F9B92BCD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9105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самозанятые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без работников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4% / 6%</a:t>
            </a:r>
          </a:p>
        </p:txBody>
      </p:sp>
    </p:spTree>
    <p:extLst>
      <p:ext uri="{BB962C8B-B14F-4D97-AF65-F5344CB8AC3E}">
        <p14:creationId xmlns:p14="http://schemas.microsoft.com/office/powerpoint/2010/main" val="16481272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356FBE-310C-47E9-8C06-AB8FAA22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0B7C3-F260-4D6A-8462-A0F28E09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912A1-3D87-4A14-B75B-C071CA3F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7FF65-C071-4535-AE88-7C657E94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ОСНО подходит, когда бизнесу важны масштаб и работа с НДС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AB25FE-ABED-4561-8768-83C20874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Режим выбирают компании, которым нужны вычеты по НДС, крупные заказчики и гибкость в структуре расходов.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47EDF8-2598-40B7-BF21-0EFA8C23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E147D-40DC-4BAC-9F59-EF65402D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030F8B-F01B-4E13-9FE6-F99E56D8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налог на прибыль для организаций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B19597-E25D-42BB-B782-D0F38B08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FE331-15C1-4145-89EE-79B53BB2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91C96-88AD-4E0F-959A-387E7AF1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основная ставка НДС в 2026 году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439363-9C78-4A39-A4B3-F6569C9A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0D6EFF-1FBC-43A7-A49E-71072576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без лимитов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B9435-8E15-4038-AF69-705C1DE9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по выручке и численности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A1EFC2-667D-48FA-9032-7F50A245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15A63A-7CDC-432C-A14D-B91980C0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F8FAC9-5A86-41A1-A668-17672B82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00862E-21EA-4936-A155-FF2CBC10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клиенты работают с НДС, расходы существенны, а бизнес не хочет упираться в лимиты по выручке, штату и структуре собственников.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C3C8D6-3D47-4E59-966F-058ABE53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A3080D-A20B-4DAC-9799-B12018E0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924A32-FDEF-4752-992F-BB9717A5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36ECAA-B263-42B3-B943-26B28946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5BAF9C-18A9-4360-BDC3-A51B91C8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DB3A66-DA4B-49DB-94A2-30BF8AA6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нет ограничений по масштабу бизнеса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2552C9-1808-4C9A-BA13-25ADE76E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88D153-335E-4659-A4AD-A93C764D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понятна крупным контрагентам и тендерам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84839A-E63A-4CBD-801D-9C0A827B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050E8F-4E5C-4EAE-B2C8-2D770A39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дает право на полноценную работу с НДС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E70B37-7CB8-4032-9A68-577B05BB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0CC37D-B5AD-4FA9-9FC5-2873C13E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3A41A0-CDEC-46C4-ACB4-27229C0C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1345DA-0A23-433D-9BA7-07011FEE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759DD9-85D2-4EA0-8595-649D8196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C1D8D0-39F9-45D1-9AF7-BB35B8D1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нагрузка и учет сложнее, чем на спецрежимах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32A701-A062-4809-B42D-BF81FB26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DDB383-5139-43EB-9DB0-06F6E258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для ИП добавляется НДФЛ по прогрессивной шкале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F45223-BC57-47EA-B650-F2DEF722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824A79-9910-41D0-9DF4-42D13756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ошибки по НДС и прибыли быстро становятся дорогими</a:t>
            </a:r>
          </a:p>
        </p:txBody>
      </p:sp>
    </p:spTree>
    <p:extLst>
      <p:ext uri="{BB962C8B-B14F-4D97-AF65-F5344CB8AC3E}">
        <p14:creationId xmlns:p14="http://schemas.microsoft.com/office/powerpoint/2010/main" val="16119838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23A4D9-0666-4AA2-9141-020A1195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DF7935-7A0A-4C62-B0C2-2377ED74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875D72-DEE7-4668-98AC-3FED3DE7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9AFE1-A34C-40DA-8291-BFF3D6DC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УСН остается базовым режимом для малого и среднего бизнеса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150167-E8AF-4000-8091-332BC05A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Ключевой выбор внутри режима - платить с выручки или с финансового результата.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71E22-3036-4103-B928-2D61458E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9287F4-E9EA-462F-AD9C-E6421DD4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C60D6-FE1B-4644-858C-D5073D78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объект «доходы»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D1D3E-274D-4C3F-AE0C-7BD31274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5115E-D24C-4FB7-A5C8-28E7AEFA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15%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711C1-6892-42CD-A3B8-D24308BC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объект «доходы минус расходы»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0DFD2-20BF-4948-BD54-61C6E470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84F554-C79E-463F-A145-732B7810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490,5 млн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4EBBEC-BB6A-4204-83DD-A4E956A4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лимит дохода на 2026 год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9BA923-1B84-4789-8ED4-9D00CD40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6C3890-12D1-4708-9F50-16D7829A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EA56DA-1F2B-45CD-990E-7C765EB9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53CEBA-AB4A-4528-96DD-4A172C20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важны простота учета, понятная налоговая модель и нет потребности в классической ОСНО для большинства сделок.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FC938D-6540-4277-B0CC-D6CC5A55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20E787-809D-49C5-BD68-4017C54C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AA0220-1811-475A-AEAC-E700AEEC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C1629C-06E4-4AB1-95BE-2EF52C36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7A47AF-FDE1-497E-BE79-889725BF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AECAA4-7DD3-403C-A9E1-6274D949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простая логика расчета налога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7F80D6-0138-49CA-93C1-CC30368D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C49871-FDAC-4379-9D6C-12B8CC43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ниже административная нагрузка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7D5AC9-4552-4394-87B2-7AC8746D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BC8B99-0768-42E7-B098-46FB4748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можно выбрать объект под свою экономику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9333CF-313E-4FC2-8AAA-8F6F2C36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F27969-AE45-40C0-AF1D-C1319723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7F471C-634B-43AC-9F6F-020C0D4C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0508DB-9F13-4A08-9086-330FBB35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F6EAA4-9B6C-44AE-913B-9C07A618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ECEE23-1A21-4875-B6FD-4339F989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лимиты по выручке, активам и численности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F3FB77-D1C4-41D4-98F2-6844B37F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9E3C27-0001-4DD8-BF21-52F71420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не всем клиентам удобно работать без привычной модели ОСНО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1D8211-0C1C-48DE-8498-3558E585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FDFC53-DF58-452D-815B-C200CB2D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ошибка в выборе объекта быстро съедает маржу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A713CE-CE50-4F08-9A97-4AB57032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57182"/>
                </a:solidFill>
              </a:defRPr>
            </a:pPr>
            <a:r>
              <a:rPr sz="1050">
                <a:solidFill>
                  <a:srgbClr val="657182"/>
                </a:solidFill>
              </a:rPr>
              <a:t>Численность работников: до 130 человек. Освобождение от НДС в 2026 году зависит от порога выручки и специальных правил периода.</a:t>
            </a:r>
          </a:p>
        </p:txBody>
      </p:sp>
    </p:spTree>
    <p:extLst>
      <p:ext uri="{BB962C8B-B14F-4D97-AF65-F5344CB8AC3E}">
        <p14:creationId xmlns:p14="http://schemas.microsoft.com/office/powerpoint/2010/main" val="9686091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DCEBB8-9868-47AF-A378-E9415AEE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95019-0EBD-47C5-8FD4-942C4630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4FE536-194C-4297-9D66-43695382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D7DE81-6CB2-414D-8CA6-7F579B27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АУСН создана для микробизнеса, который хочет минимум отчетности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436AF-6F0B-42AB-AA66-3AF24D28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Налог рассчитывается автоматически, но режим работает только внутри жестких условий эксперимента.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6DD717-BCA2-43B8-ADE6-8164311D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7CB37-C832-4367-9326-42D3BC38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4A4ED3-DD4F-4B86-998F-77705BE7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объект «доходы»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3405E4-8DDE-440B-B58A-E88929B0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02ABB5-E93A-46D9-9656-BDD715A6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8F097-13BA-4B1D-A364-5F5FA83E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объект «доходы минус расходы»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7F0EF-C84A-437D-8F5B-FEA94AD3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A46819-7DAC-4683-94BD-9DEBFA3F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60 млн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D1CE2E-0A2F-4911-A337-251D6E46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годовой доход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017DC-6ECA-4DB7-84F9-7DDE5F01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CCF727-84EE-4502-B182-6C932085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EDAA3C-B70C-484A-843C-832DADD9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24982D-5742-4C87-BAE9-0711BF6C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у компании очень компактная структура, небольшой штат и критична экономия времени на расчетах и отчетности.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1EF41D-3F77-4BFC-921C-7E41C67A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5BB8D7-01D9-4FDB-9664-01C742F6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95C962-F205-4132-9762-AAE32164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2701E4-DA7E-4106-905B-18AE6329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4D8FD2-12F3-4B47-848E-790F9974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9D314B-7F75-4360-9E5E-53FEBC47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почти полностью отменена отчетность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633EF1-34CA-4C6E-AB93-68F1DC74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52C70D-24EA-46AE-9CBB-45EEB40A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налог считает инспекция на основе данных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AB7138-28D5-4885-8599-6B91D8F8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59D018-B24B-4CA7-BEF2-26EDAF45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понятный режим для небольших оборотов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34B356-4AF0-41CC-B1E6-3D0AAB80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526060-00D1-4A0F-8BBE-C39205C8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EED364-7298-404E-B72D-365D3B62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E57B31-77B3-40A7-8204-8C3FAE43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376E4B-7E88-4DAA-9487-FFCBA9A7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808D46-C695-4464-A2B7-A84E1FFC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не более 5 работников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921AC7-C56F-4966-98E2-600FF66D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5F9A8B-8D8E-4839-8774-1B7B34F9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только уполномоченные банки и безналичная зарплата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C3F771-206B-4691-A652-9C044DDC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D98DF1-CEA6-4235-945B-CE356AA8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эксперимент действует до 31 декабря 2027 года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129B67-A413-419E-A9DB-BA8FB6CA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57182"/>
                </a:solidFill>
              </a:defRPr>
            </a:pPr>
            <a:r>
              <a:rPr sz="1050">
                <a:solidFill>
                  <a:srgbClr val="657182"/>
                </a:solidFill>
              </a:rPr>
              <a:t>Дополнительно: остаточная стоимость ОС у организации - до 150 млн руб.; совмещение с иными спецрежимами не допускается.</a:t>
            </a:r>
          </a:p>
        </p:txBody>
      </p:sp>
    </p:spTree>
    <p:extLst>
      <p:ext uri="{BB962C8B-B14F-4D97-AF65-F5344CB8AC3E}">
        <p14:creationId xmlns:p14="http://schemas.microsoft.com/office/powerpoint/2010/main" val="4225757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F8490D-9025-48AE-90C5-A42C759C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20E05-FFEC-4810-BABA-B058C911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E00CC-8963-4476-B3FC-D4E500B2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3E3BDB-0B8C-4B77-BF29-F99DF47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ПСН удобна, когда предпринимателю важна предсказуемая сумма налога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DB0A4-F18F-4743-A1C3-FCE0223C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Режим работает только для ИП и зависит от вида деятельности и региона.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58847-BD6B-424A-A42E-1DBAB3DD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E1F14-FFD1-4EFC-9B1E-540FE262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только ИП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995E6-6730-4ED4-9411-218CA4A9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кто может применять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F261BF-488B-43AD-BD55-067AD360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57C9A-7EAA-47BD-B477-2F0AAE89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20 млн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70D01-2EC1-42EE-9BE0-C250924E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лимит дохода в 2026 году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2A464-9543-489F-8A2F-F008A4FC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7BDC3D-0E19-47C4-9249-A627BE41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фиксировано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0D0AA-E251-4D25-98C3-199FD0EC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налог - стоимость патента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25082-564F-4974-9121-2DFD864E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9C2583-C46B-42C4-B500-17FFB73B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A2EC6-9372-4F0C-9186-E331253D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70C871-1DE0-40C5-9BB8-139A4503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доход по деятельности прогнозируем, бизнес компактный, а предпринимателю важна простая модель без отдельной декларации по режиму.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3EF63F-D488-45DA-97BA-01366767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DA5422-C9EB-4ADC-B1FA-E8D72659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AE53B8-06DA-418E-A26C-D47A7105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8623EA-4E27-4113-84CE-7BEA18BD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D1639A-C1D8-4433-AF0C-368D68E4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AD585D-DB21-475E-A2C7-AFDA5549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предсказуемая стоимость налога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28894B-B3B6-4C4C-A4A6-469EB43E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A3F60C-A66A-431F-AB62-23314FFF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не нужно считать налог с каждой операции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16BAB1-A7C4-4DD6-9D74-F6475259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E12C79-714F-4132-A628-2F40CC11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можно брать патент на нужный период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5DEDDA-562A-47B7-9647-A80CFDE0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6F7A58-EB94-4568-AAF1-34B85AB1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C3CF26-8E06-439D-A171-EF206463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BEA109-8902-4962-A4A3-F339A399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662B60-2A9E-4F77-B961-BE746AE3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13D2B4-F46A-4517-83D0-6BCA8192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патент не пересчитывается, если доходность оказалась ниже ожиданий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3CDC5A-D13A-49DC-BF9A-91A57586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3075A8-B12E-4D80-BB27-37C6FE98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лимит дохода снижен до 20 млн руб. в 2026 году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233200-59EA-4CA1-9CA7-F36E30A0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FCA44A-F214-4384-8D4C-D216C9C4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при совмещении режимов нужен раздельный учет</a:t>
            </a:r>
          </a:p>
        </p:txBody>
      </p:sp>
    </p:spTree>
    <p:extLst>
      <p:ext uri="{BB962C8B-B14F-4D97-AF65-F5344CB8AC3E}">
        <p14:creationId xmlns:p14="http://schemas.microsoft.com/office/powerpoint/2010/main" val="1790969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636F29-26B8-414B-BBDB-B3F968F2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882B2-AEBB-47FF-81A4-50A64814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8CDE6-56E7-4B4E-9225-E03E0934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0E784-8151-47B6-8EF0-37460D02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ЕСХН выгоден, если бизнес реально живет за счет сельхоздеятельности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70F1-EE06-4440-A88D-031F4B01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Это специальный режим для сельхозтоваропроизводителей, а не универсальная льгота для любой компании в отрасли.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DCFED4-5028-4B07-BA02-1DE18B67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D9165-BB0B-4D27-80CB-03EBBA3F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17BA21-2497-44DD-BDEB-47CDE780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базовая ставка налога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E640AE-C6B1-467F-84C5-DD1D0839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01CCA8-3FE5-40A6-A3BB-7BBEB706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доходы - расходы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72A35-9B32-4CA6-8D59-3D5313A2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налоговая база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972A73-E78D-4095-AEB9-ADD5FA00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4F26AD-5C05-4566-922D-1FDFF9F7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70%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573DA5-A612-4325-9EB8-93745447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минимальная доля профильного дохода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D9BDE-47E9-4EE0-A28D-3473BBD1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E6B661-13B2-4233-86A4-B6E74B09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C89D3-FC58-4ECD-B03D-48A5A094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9F7F33-47ED-4EFC-8903-80E467DC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компания или ИП действительно производят сельхозпродукцию и выдерживают отраслевые критерии для применения спецрежима.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E2C9E7-402B-4D85-BCA9-9BCF7DA2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50C57-E33C-4FF3-A705-61D92B34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5D1431-9C97-44CD-BDC7-668BD69B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CA0A49-6C4B-49B6-9E12-9E20017A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2E9454-0079-46B2-83D0-E5A5389F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E03494-700F-429D-87AA-13032657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низкая ставка по отношению к базе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9D8A1F-13C4-4D82-8ECD-D28F0C0B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1B0D05-53FA-4075-B9DD-4132C279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режим заточен под отрасль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B259F4-0C95-4321-B9E8-3FB000E9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1D3DCB-0B73-43B9-B1F6-15A692DE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подходит для сезонной экономики расходов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EE7304-A099-4AE1-BC54-5F7E0C12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543393-79F0-46C5-B19B-DCC43DA9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34BC9C-DFA2-4A3F-873A-68709215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694E93-A473-44E2-B32A-BD77686D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E0320B-7C33-4B1F-8397-F6393E58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6DEE6C-9C2B-4B60-9E60-8CFC251B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нужно подтверждать отраслевой статус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265BE-D82E-452A-8A13-D28B6203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F4C295-C3A1-4AB8-A488-FD24203A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нарушение доли профильного дохода ведет к потере права на режим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8CE278-A8EF-408D-B350-F559ADD0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A2A227-732D-4E37-A3E1-FC4D470D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региональные нюансы и имущество требуют отдельной проверки</a:t>
            </a:r>
          </a:p>
        </p:txBody>
      </p:sp>
    </p:spTree>
    <p:extLst>
      <p:ext uri="{BB962C8B-B14F-4D97-AF65-F5344CB8AC3E}">
        <p14:creationId xmlns:p14="http://schemas.microsoft.com/office/powerpoint/2010/main" val="18472703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313EA6-BB38-478C-BD01-8FAEC397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E29399-31F8-403F-97F7-415F6044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9C924-8B8D-4460-B545-8DAFCE96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FEBA2-3847-4298-83F1-5F2EE8FA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НПД работает только там, где человек действительно работает на себя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92728A-0CD4-4E75-8805-FD2D3220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Режим хорош для самостоятельной деятельности, но плохо переносит попытки заменить им полноценный трудовой договор.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B2C2DD-2CAE-41DF-A703-5DF1187A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4CC01C-1154-4BC5-B93D-12AE3BDA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4%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4676C0-C328-4FC1-932E-8A14D9ED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доход от физлиц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C7E2E7-6FAA-4139-931E-8A309A83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121E7B-1F69-4B54-A18F-0DB10CBE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17C910-DF10-421E-A394-387FDCB1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доход от юрлиц и ИП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C9E943-FC61-4876-ADE9-78CAF22C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6F3F75-7971-4EA6-84DF-2363125A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2,4 млн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FB1617-A3EF-4D83-9B5B-B17750A7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лимит дохода в год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A503B9-4F05-4F4E-A08B-76D42A6B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DE4CFF-1464-45C2-B791-E7B9ADC3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97C07-CE77-4C7C-BC41-AD9EDEB8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B8A1A9-684F-4028-8FDB-632496B9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исполнитель работает без наемных сотрудников, сам управляет своей занятостью и не встроен в чужой производственный процесс.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F6979E-A1D4-4375-A8C9-79109020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31661C-119C-41D5-999F-BC5778C1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7331D0-5A20-4BBF-B047-5D0EFBB2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88FEE1-0FC1-4099-9603-B90869D6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E2898A-DA79-4074-B92A-75875141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C1176C-FDCD-4526-A0C8-B705E1DA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простая регистрация и нет отчетности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3F19F1-AB3D-462B-A4D6-1E415114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A375CA-ECC1-40DF-9495-465E9397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низкие ставки и автоматический расчет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471C6A-A122-4510-8E57-7C4B97F7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5369FA-3B9D-401C-B9B9-64CEBFE5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подходит для частной практики и небольших услуг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ECBC98-3789-45F5-9029-7AF17125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E4BA21-5BB9-4967-B473-91D4CD10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2FB28F-949D-4146-878E-996711A5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D4B4DC-2858-44BF-BFF8-79E062D8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385053-2E69-4191-8C2F-3A7F45CA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CC8860-EE2D-4046-BCC5-D9F7EE9E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превышение лимита лишает права на режим в текущем году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99FC0D-BCDC-4D00-8C29-4CF2DD6B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E36133-0677-4DB5-A815-47EFB1FC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режим нельзя использовать как замену штатной функции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3EF797-A2DE-4F47-8491-A133F1AE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EC20272-0EDC-4B89-B367-44C701B5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наем работников для деятельности на НПД не допускается</a:t>
            </a:r>
          </a:p>
        </p:txBody>
      </p:sp>
    </p:spTree>
    <p:extLst>
      <p:ext uri="{BB962C8B-B14F-4D97-AF65-F5344CB8AC3E}">
        <p14:creationId xmlns:p14="http://schemas.microsoft.com/office/powerpoint/2010/main" val="12671353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495028-7F08-4D28-9F1F-1272D5AA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ВЫБОР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E5DD0-F660-406A-97C0-91D6DACE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5A672-EEFF-4575-9687-F326919C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EAE5B2-B5F4-412C-BC21-A1B72EF3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Как выбрать подходящую систему налогообложения?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0B62C-B8F3-496E-B3A3-0D8E7E4B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Решение обычно зависит не от одного фактора, а от сочетания оборота, расходов, клиентов и модели роста.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E7BB0-33B0-47DA-94F6-D512CB80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4003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C11FA0-8A79-4424-BFB9-C01DB992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205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Какой ожидается оборот?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7FCAF-AD6C-465E-9694-5508EE8A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205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Лимиты по выручке сразу отсекают часть спецрежимов и влияют на модель НДС.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4AB9F5-6E9D-411A-BA58-CEE4AB3E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86000"/>
            <a:ext cx="24003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10AEFD-C544-45D3-8282-23A16B64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57450"/>
            <a:ext cx="205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Какая доля расходов?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7567BB-9669-4A65-B36B-D1228C3F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48000"/>
            <a:ext cx="205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Если расходы существенные, важен выбор базы: с доходов или с финансового результата.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D4907-DC96-4115-B078-0CBDFAFB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86000"/>
            <a:ext cx="24003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017C25-73D1-4CED-B46D-4C23CE12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57450"/>
            <a:ext cx="205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Кто ваши клиенты?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5379B-1AE6-4EF3-8409-E2A8DEDC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48000"/>
            <a:ext cx="205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Крупные заказчики и контрагенты на ОСНО часто ожидают работу с НДС и прозрачный документооборот.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69CF7D-351A-473B-B5F3-DF845E5E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86000"/>
            <a:ext cx="24003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DE0418-879C-4A77-97C3-3EA9AE0D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57450"/>
            <a:ext cx="205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Как вы планируете расти?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52527A-D225-4DFC-B33D-EB2BB18C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205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Штат, структура собственников, филиалы и новые виды деятельности могут быстро сделать режим неудобным.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7603F2-2955-447A-8639-484BA2E3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172700" cy="133350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9525">
            <a:solidFill>
              <a:srgbClr val="D9EC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431236-548B-4A2B-A598-342BDFAF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52505-3B11-435C-9D75-1FCCF6B4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9791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Практический подход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0C2434-80C2-478D-948B-72D6E04D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Выбирать режим лучше не по ставке на первом экране калькулятора, а по экономике бизнеса на 12 месяцев вперед: выручка, маржа, клиенты, сотрудники, инвестиции и риск налоговых претензий.</a:t>
            </a:r>
          </a:p>
        </p:txBody>
      </p:sp>
    </p:spTree>
    <p:extLst>
      <p:ext uri="{BB962C8B-B14F-4D97-AF65-F5344CB8AC3E}">
        <p14:creationId xmlns:p14="http://schemas.microsoft.com/office/powerpoint/2010/main" val="7225702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1789B3-193B-4055-8D05-58CAD926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РИСКИ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4A2DD6-A610-4274-9D4D-1CF44AB7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CE7FB1-EA9A-42E4-A0F7-2C57E0AC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2B2EF-BC0F-4827-8B4E-C2EFEE45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У каждого режима есть свои триггерные точки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A2813-28C4-4B45-964E-AEA19E0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Задача собственника - заранее понимать, где проходит граница между удобным режимом и дорогой ошибкой.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B2B47-FCB8-4A5C-AE6C-B645BAA0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276600" cy="26670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79831-A83F-4A45-829C-1FD29D22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70B5EE-D716-4DF2-977C-A5BC8110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ОСНО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B30B8-E8DB-4D43-A8A4-3116F73C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8956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E4E99E-EE5E-4F1F-A06A-662BCA0E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3DC7E6-BE3C-4FAB-9D8B-540CBE6A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НДС и налог на прибыль требуют сильной первички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F5836-DC9D-4629-8BA7-5A869D48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6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93EFC1-8E86-4D39-9C7D-6C2B2D58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ошибки по ФОТ быстро превращаются в доначисления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122BB2-5FFF-4FA0-8625-22FAA1BF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60900F-EC45-4772-975E-2EA4EC59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сложные сделки и вычеты нужно сопровождать доказательствами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914177-F38C-4EEF-A3F4-7DA17174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286000"/>
            <a:ext cx="3276600" cy="26670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30C598-8624-4A44-98EE-789B575D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0418B4-698B-4962-8EDC-5E8D2A2B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95550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УСН, АУСН и ПСН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645647-F711-467F-B42A-83FD7DEC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71800"/>
            <a:ext cx="28956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2C4BCC-118E-4332-AF86-F09100CE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F8FFD9-E927-45C6-A4C6-D2B9B237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480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лимиты по выручке и штату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580E7C-32A8-4037-A519-56C49C95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3DBD34-0825-4AED-B98F-BF43FBEEC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90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искусственное дробление бизнеса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FA7375-FFA8-4973-A0C1-250C45B2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172EF3-E498-4688-9E6D-EE0BFB34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338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слабый раздельный учет при совмещении режимов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F0A4C1-3382-4DF4-B98D-209CD84B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86000"/>
            <a:ext cx="3276600" cy="26670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1374FC-6435-441B-9D9D-7F6EC374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47864B-4374-49C4-950A-01F8C4DB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95550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НПД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293FA6-5701-46F9-B7F8-E9904953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71800"/>
            <a:ext cx="28956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8F9CEC-AC69-4A4B-885E-15913D29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2BFB30-5171-45C3-A54F-7CD0A4EB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480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подмена трудовых отношений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A45F98-5F79-4CBF-BA08-4454E6DA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6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6DFB8F-F4A7-432D-962E-80DEEC86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90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превышение лимита дохода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FDA3C9-8EDB-4FDD-BE79-37D92114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1EDB42-BFAF-48CE-B047-185E352A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338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исполнитель фактически встроен в чужой процесс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F1D87F-FB59-4687-8879-EF322F63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Чем проще режим, тем важнее доказать его добросовестное применение.</a:t>
            </a:r>
          </a:p>
        </p:txBody>
      </p:sp>
    </p:spTree>
    <p:extLst>
      <p:ext uri="{BB962C8B-B14F-4D97-AF65-F5344CB8AC3E}">
        <p14:creationId xmlns:p14="http://schemas.microsoft.com/office/powerpoint/2010/main" val="16665800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315651-DD29-4A95-9905-4177E5FA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ДРОБЛЕНИЕ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812D61-01FB-4FBA-ABF6-32D2B339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F0363-074D-4A37-AC39-F72D8449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FDA89-E2D4-4628-8174-3E7851CB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Признаки дробления бизнеса, которые видит налоговая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AD4A1-E96D-4FB6-953F-54691059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По материалам ФНС ключевой вопрос всегда один: это самостоятельные компании или искусственно разделенный один бизнес?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1ED772-A2BE-4D40-9532-B148A036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876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91F7C1-36C6-41CC-947C-1A1793FA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DBF8DF-6004-4920-B346-9C65C5B4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Основные сигналы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CFFB7-0D5C-459F-A836-CC7B2EEC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44958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DC5A4-8612-4340-838A-B1897489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A7E9F7-4603-47E9-9456-5F7EF4E9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есть единое контролирующее лицо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E929DB-3012-45B4-B84F-77369D8D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38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2714C0-BB81-4FB7-9640-9E8350A5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один бизнес-процесс формально разделен на несколько лиц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006B82-A492-4DD1-BDB6-03A34FFF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868936-8525-4686-A0C0-987614E6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подконтрольные компании не принимают самостоятельных решений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70380D-1BA2-490D-9E09-F7EFB834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67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EFC19B-4FE2-42F7-B791-1574135E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9097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используются общие сотрудники, активы и контрагенты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58F918-EDA7-45F3-B0CA-F22EE140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8C97B6-2B68-402F-9FC5-621DC8D7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ресурсы распределяются формально или безвозмездно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90D5A2-871B-4A27-88F6-975EBE0A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86000"/>
            <a:ext cx="50292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5DF12D-F1F5-407B-A583-61F1C153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9F9CD1-E5C5-42D6-B8FA-53828069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4648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Что усиливает риск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A92201-FB43-4C99-B2F0-D0ADB579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7180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21C624-AF4D-4C5E-A9A9-A92D6FD8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1ED26E-AC76-4C3E-8BC2-8B0AC5FB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480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совпадающие адреса, телефоны, сайты и управленческие функции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750B09-CD00-4A85-9F79-4A879FF34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38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377B8B-E3E7-4818-85B5-75AF44B4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623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единая касса, общая реклама и общий отдел продаж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85BB13-FCC8-417D-8572-0D7834D1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7C178B-F7CD-4E92-B851-B5930781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766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резкое перераспределение выручки для сохранения спецрежимов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B13AB7-3DF9-4DE9-8BC6-925F82F6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067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9CDF66-F7FC-4F25-AFE3-B0B4B83C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909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формальные договоры между зависимыми лицами без деловой цели</a:t>
            </a:r>
          </a:p>
        </p:txBody>
      </p:sp>
    </p:spTree>
    <p:extLst>
      <p:ext uri="{BB962C8B-B14F-4D97-AF65-F5344CB8AC3E}">
        <p14:creationId xmlns:p14="http://schemas.microsoft.com/office/powerpoint/2010/main" val="4144310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0F5C3B-F3F9-4580-8F08-0B5004F2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ДРОБЛЕНИЕ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1D6F5B-6658-444E-8A16-CC610B67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79F3E9-3E89-4B17-A900-82E2CEE5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0F0AA-63C4-4A97-A5A8-8BB828CF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Если структура законная, это нужно уметь доказать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0AF5A5-3A6C-4794-BD92-DD7DC1BA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Пояснения работают только тогда, когда у каждой компании есть собственная деловая логика, ресурсы и результат.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22C0B-B089-4DFF-9907-0AB8A25C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3622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46614-CBB8-421A-904D-277418FF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Самостоятельность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6AD076-F278-4986-9988-319D1C95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Есть ли у каждой компании свой руководитель, своя зона решений и отдельный финансовый результат?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972A3-EABB-459E-881C-8012936B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81250"/>
            <a:ext cx="23622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652E53-886C-4622-87F0-E86365AF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5270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Ресурсы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5A43E-55A8-4DD3-8A30-FA86F43D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432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Подтверждены ли сотрудники, активы, договоры, расходы и операционная роль каждой единицы?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C51767-89ED-415B-A1F3-E1A1AA9B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381250"/>
            <a:ext cx="23622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381AE-2E75-4141-AE72-A56DA547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5270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Деловая цель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56D065-738D-467F-B995-A63897AA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432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Понятно ли, зачем структура создана кроме экономии налога?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D9F143-92F3-4E69-9ED5-EF7EEE14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81250"/>
            <a:ext cx="23622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A6FAB2-CB45-4395-88A5-2B59AB49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5270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Документы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B8123E-6BB2-41A6-B761-4DFD81D7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432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Можно ли без спешки собрать доказательства по контрагентам, расчетам и процессам?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21093A-5308-47F2-9506-DB3EA87B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1727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B0FEB9-FAC2-4EEE-88CC-172E7B04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A7AA41-E31C-4FDD-A2CB-6ADFA73B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24400"/>
            <a:ext cx="9791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Практический вывод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BCC082-3CE6-45F2-8688-4B1D736C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9791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Риск возникает не из-за количества компаний как такового, а из-за отсутствия самостоятельности и деловой логики внутри группы.</a:t>
            </a:r>
          </a:p>
        </p:txBody>
      </p:sp>
    </p:spTree>
    <p:extLst>
      <p:ext uri="{BB962C8B-B14F-4D97-AF65-F5344CB8AC3E}">
        <p14:creationId xmlns:p14="http://schemas.microsoft.com/office/powerpoint/2010/main" val="9150505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9272EE-0A5D-4507-B43B-C9833206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ТРУДОВЫЕ ОТНОШЕНИЯ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C7408-FB7D-4660-B35C-AA9E71B0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77DE3-C607-4258-B1DF-1F762AF7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7EF904-C97C-4F83-B79F-76FCD464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Признаки подмены трудовых отношений самозанятостью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B8176F-4D5F-4553-B104-8C38D6B5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Если исполнитель фактически живет по правилам работодателя, режим НПД перестает быть безопасным.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C8CDCB-B2D2-4717-A8DC-50B6C079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172700" cy="3181350"/>
          </a:xfrm>
          <a:prstGeom xmlns:a="http://schemas.openxmlformats.org/drawingml/2006/main" prst="roundRect">
            <a:avLst>
              <a:gd name="adj" fmla="val 7186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25D1FB-8990-492E-ABA2-E23E9325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F22B7D-BDC2-4F5D-9768-6D8A8968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9791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На что смотрят в первую очередь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37127D-B871-4FE5-8B2D-9B6F0B1A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97917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F0C27-EA94-4170-9600-DE7335D2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490EB7-2503-43EA-A792-0C2F32F7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исполнителя просят зарегистрироваться как плательщика НПД под конкретный контракт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F05697-11AF-4B0E-81E7-3617A8DE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38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DC28DB-3DD1-40F8-90C0-32D9A28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заказчик распределяет людей по объектам и маршрутам исходя из производственной необходимости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2B56B3-B84C-4554-B73F-8A6D012A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142CA4-B836-494C-84FD-DB7BC1FE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режим работы, смены и время отдыха фактически определяет заказчик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045AEC-25B4-4E52-8027-AF23B616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67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221D81-B3CD-4B38-AE93-7B5A3D71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909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есть прямой контроль, руководство и встроенность в рабочий процесс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35860F-C4AD-46A7-8C7C-83BBBB48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BE287E-4EC8-4DBF-BA01-F602A0AC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работа выполняется материалами, инструментами и на оборудовании заказчика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4C7110-DA2D-4A17-95A5-2F834690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95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2086DC-9694-4FF1-B8AD-7F4758BF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9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оплата организована по логике, похожей на зарплату по ТК РФ</a:t>
            </a:r>
          </a:p>
        </p:txBody>
      </p:sp>
    </p:spTree>
    <p:extLst>
      <p:ext uri="{BB962C8B-B14F-4D97-AF65-F5344CB8AC3E}">
        <p14:creationId xmlns:p14="http://schemas.microsoft.com/office/powerpoint/2010/main" val="10345792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060D4B-DEFC-4CC4-87CF-F02FBB58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ТРУДОВЫЕ ОТНОШЕНИЯ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C05946-6B64-477B-A670-2FE70E13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E4E95D-9DC4-475F-98F3-D30C55D3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59CFF6-B609-4D42-B4FD-A10C25B7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Доказательства трудовых отношений обычно лежат в операционке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BD28E-2D8F-40CD-95D9-31B1547B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Даже если договор называется гражданско-правовым, следы трудовой модели остаются в ежедневных документах.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24BAF-3516-4389-BB7E-C78DC0ED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2343150" cy="21336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6A8B6-1412-4494-98E2-33375AA6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Пропуска и журналы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6BE00A-6629-4EA5-955F-B8F565FE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200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Оформленный пропуск, журнал прихода и ухода, постоянный доступ на территорию работодателя.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81E2B-9683-4E0E-886C-CA53D82D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2343150" cy="21336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4237A-57AF-4B67-A879-03A4150E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Кадровые документы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9A1C7-0CD5-4968-B50C-B24F5426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24200"/>
            <a:ext cx="200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Графики смен, отпуска, командировки, внутренние распоряжения и другие кадровые следы.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42917-0841-44BD-9BD9-6E98DDCB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62200"/>
            <a:ext cx="2343150" cy="21336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F8653-FB63-4C94-9497-1929BBEF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Платежные документы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D01B0C-476A-4B15-9B4A-3B01029F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24200"/>
            <a:ext cx="200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Расчетные листы, ведомости, системные перечисления денег по модели заработной платы.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540ACF-19FD-45B5-A37E-A9B7B193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62200"/>
            <a:ext cx="2343150" cy="21336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AD3C8C-897D-466E-93FB-3D863391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Хозяйственная деятельность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25804B-2CBC-4366-9186-DCE53ECC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124200"/>
            <a:ext cx="200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Накладные, отчеты, подписи в документах, инструкции по охране труда, аудио и видео.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218D4C-B065-4033-812B-A8BDA33F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001250" cy="819150"/>
          </a:xfrm>
          <a:prstGeom xmlns:a="http://schemas.openxmlformats.org/drawingml/2006/main" prst="roundRect">
            <a:avLst>
              <a:gd name="adj" fmla="val 2790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9525">
            <a:solidFill>
              <a:srgbClr val="D9EC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14BE32-373F-4B15-AE55-BC807546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F01C24-301A-40CA-853C-E0D79D46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Для собственника это значит одно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82ABC2-5933-4261-9522-A7EB4FC0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9620250" cy="-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Проверять нужно не только договор с самозанятым, но и весь фактический способ организации работы.</a:t>
            </a:r>
          </a:p>
        </p:txBody>
      </p:sp>
    </p:spTree>
    <p:extLst>
      <p:ext uri="{BB962C8B-B14F-4D97-AF65-F5344CB8AC3E}">
        <p14:creationId xmlns:p14="http://schemas.microsoft.com/office/powerpoint/2010/main" val="20019870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B763C1-38EE-4E90-8F4D-BCB949BF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ФИНАЛ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8BC264-2A03-458F-A90B-75444786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0961C-7FB0-4D9C-8554-7379E746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D3287-53CB-450E-B607-54E8BAED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4114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D004F5-5049-4F0B-AA9B-D4C25120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95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F2A37"/>
                </a:solidFill>
              </a:defRPr>
            </a:pPr>
            <a:r>
              <a:rPr sz="3600" b="1">
                <a:solidFill>
                  <a:srgbClr val="1F2A37"/>
                </a:solidFill>
              </a:rPr>
              <a:t>Как проверить</a:t>
            </a:r>
          </a:p>
          <a:p xmlns:a="http://schemas.openxmlformats.org/drawingml/2006/main">
            <a:pPr>
              <a:defRPr sz="3600" b="1">
                <a:solidFill>
                  <a:srgbClr val="1F2A37"/>
                </a:solidFill>
              </a:defRPr>
            </a:pPr>
            <a:r>
              <a:rPr sz="3600" b="1">
                <a:solidFill>
                  <a:srgbClr val="1F2A37"/>
                </a:solidFill>
              </a:rPr>
              <a:t>бухгалтера?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68AE5C-27A4-4A8B-86F1-2E26B658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76600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57182"/>
                </a:solidFill>
              </a:defRPr>
            </a:pPr>
            <a:r>
              <a:rPr sz="1650">
                <a:solidFill>
                  <a:srgbClr val="657182"/>
                </a:solidFill>
              </a:rPr>
              <a:t>Смотрим не только на сдачу отчетности, а на качество налоговой логики бизнеса.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634E2-D996-4D3B-A6BB-77A241AF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90700"/>
            <a:ext cx="18669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2C04C7-E00D-4DF2-8DF0-3E16F2C3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96215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Выбор режима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4BBC10-2699-4AF1-B822-1F83A96B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527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Понятно ли, почему выбран именно этот режим.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A293B8-0084-4089-BA50-D39FE72E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90700"/>
            <a:ext cx="18669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E0AF7-45A2-4D08-8FBD-317A2912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6215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Контроль лимитов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624985-9E1E-40CB-9975-CEDF0620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527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Видит ли бухгалтер пороги и риски заранее.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92B3DF-823A-41FC-8C82-E53C1FA5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18669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B4686D-6FCB-45AF-9E0F-E150061F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0045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Документы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742A9A-863F-4E5C-8D82-0D8B0E16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910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Можно ли быстро собрать доказательства по спорным зонам.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264804-BC8E-46C7-94C6-51B7C4AB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8669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FC8443-8135-4AD6-A7B8-32238E44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60045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Коммуникация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DB0F3F-4263-4D95-A5A2-326E21AC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1910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Объясняются ли решения понятным бизнес-языком.</a:t>
            </a:r>
          </a:p>
        </p:txBody>
      </p:sp>
    </p:spTree>
    <p:extLst>
      <p:ext uri="{BB962C8B-B14F-4D97-AF65-F5344CB8AC3E}">
        <p14:creationId xmlns:p14="http://schemas.microsoft.com/office/powerpoint/2010/main" val="4555497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2026-07-02T07:00:27.0150000Z</dcterms:created>
  <dcterms:modified xsi:type="dcterms:W3CDTF">2026-07-02T07:00:27.0150000Z</dcterms:modified>
</coreProperties>
</file>