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55f9b0f6b84867" /><Relationship Type="http://schemas.openxmlformats.org/officeDocument/2006/relationships/extended-properties" Target="/docProps/app.xml" Id="R17c15f4bccfe48ce" /><Relationship Type="http://schemas.openxmlformats.org/officeDocument/2006/relationships/officeDocument" Target="/ppt/presentation.xml" Id="Rcfa126a7aaa5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5cae7c9fe4739"/>
  </p:sldMasterIdLst>
  <p:notesMasterIdLst>
    <p:notesMasterId xmlns:r="http://schemas.openxmlformats.org/officeDocument/2006/relationships" r:id="R5162121a711b428a"/>
  </p:notesMasterIdLst>
  <p:sldIdLst>
    <p:sldId xmlns:r="http://schemas.openxmlformats.org/officeDocument/2006/relationships" id="256" r:id="Rdec548b62b5d41c0"/>
    <p:sldId xmlns:r="http://schemas.openxmlformats.org/officeDocument/2006/relationships" id="257" r:id="R69326d16d2554ad6"/>
    <p:sldId xmlns:r="http://schemas.openxmlformats.org/officeDocument/2006/relationships" id="258" r:id="R5f3ff450dba044ac"/>
    <p:sldId xmlns:r="http://schemas.openxmlformats.org/officeDocument/2006/relationships" id="259" r:id="Re3c5fa5e7c114b29"/>
    <p:sldId xmlns:r="http://schemas.openxmlformats.org/officeDocument/2006/relationships" id="260" r:id="Rb980facce059489c"/>
    <p:sldId xmlns:r="http://schemas.openxmlformats.org/officeDocument/2006/relationships" id="261" r:id="R2f68ebbe850a4bb1"/>
    <p:sldId xmlns:r="http://schemas.openxmlformats.org/officeDocument/2006/relationships" id="262" r:id="Rb212d8a416cc425d"/>
    <p:sldId xmlns:r="http://schemas.openxmlformats.org/officeDocument/2006/relationships" id="263" r:id="R206421fd8b0043f6"/>
    <p:sldId xmlns:r="http://schemas.openxmlformats.org/officeDocument/2006/relationships" id="264" r:id="Rd77a4017848a4134"/>
    <p:sldId xmlns:r="http://schemas.openxmlformats.org/officeDocument/2006/relationships" id="265" r:id="R381abb9ade7040cb"/>
    <p:sldId xmlns:r="http://schemas.openxmlformats.org/officeDocument/2006/relationships" id="266" r:id="R548c47b4c8fb4dd1"/>
    <p:sldId xmlns:r="http://schemas.openxmlformats.org/officeDocument/2006/relationships" id="267" r:id="Rce2731f445b94f0a"/>
    <p:sldId xmlns:r="http://schemas.openxmlformats.org/officeDocument/2006/relationships" id="268" r:id="Rc13dc3edce24423a"/>
    <p:sldId xmlns:r="http://schemas.openxmlformats.org/officeDocument/2006/relationships" id="269" r:id="R171067dfd9ce4b2a"/>
    <p:sldId xmlns:r="http://schemas.openxmlformats.org/officeDocument/2006/relationships" id="270" r:id="Rc9d3a4e13e934c83"/>
    <p:sldId xmlns:r="http://schemas.openxmlformats.org/officeDocument/2006/relationships" id="271" r:id="Ra167f5f42b3a4c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45c1cca8d482b" /><Relationship Type="http://schemas.openxmlformats.org/officeDocument/2006/relationships/slideMaster" Target="/ppt/slideMasters/slideMaster1.xml" Id="R0845cae7c9fe4739" /><Relationship Type="http://schemas.openxmlformats.org/officeDocument/2006/relationships/notesMaster" Target="/ppt/notesMasters/notesMaster1.xml" Id="R5162121a711b428a" /><Relationship Type="http://schemas.openxmlformats.org/officeDocument/2006/relationships/presProps" Target="/ppt/presProps.xml" Id="R17b13c0f816649b9" /><Relationship Type="http://schemas.openxmlformats.org/officeDocument/2006/relationships/tableStyles" Target="/ppt/tableStyles.xml" Id="R21d29955aac94c3c" /><Relationship Type="http://schemas.openxmlformats.org/officeDocument/2006/relationships/slide" Target="/ppt/slides/slide1.xml" Id="Rdec548b62b5d41c0" /><Relationship Type="http://schemas.openxmlformats.org/officeDocument/2006/relationships/slide" Target="/ppt/slides/slide2.xml" Id="R69326d16d2554ad6" /><Relationship Type="http://schemas.openxmlformats.org/officeDocument/2006/relationships/slide" Target="/ppt/slides/slide3.xml" Id="R5f3ff450dba044ac" /><Relationship Type="http://schemas.openxmlformats.org/officeDocument/2006/relationships/slide" Target="/ppt/slides/slide4.xml" Id="Re3c5fa5e7c114b29" /><Relationship Type="http://schemas.openxmlformats.org/officeDocument/2006/relationships/slide" Target="/ppt/slides/slide5.xml" Id="Rb980facce059489c" /><Relationship Type="http://schemas.openxmlformats.org/officeDocument/2006/relationships/slide" Target="/ppt/slides/slide6.xml" Id="R2f68ebbe850a4bb1" /><Relationship Type="http://schemas.openxmlformats.org/officeDocument/2006/relationships/slide" Target="/ppt/slides/slide7.xml" Id="Rb212d8a416cc425d" /><Relationship Type="http://schemas.openxmlformats.org/officeDocument/2006/relationships/slide" Target="/ppt/slides/slide8.xml" Id="R206421fd8b0043f6" /><Relationship Type="http://schemas.openxmlformats.org/officeDocument/2006/relationships/slide" Target="/ppt/slides/slide9.xml" Id="Rd77a4017848a4134" /><Relationship Type="http://schemas.openxmlformats.org/officeDocument/2006/relationships/slide" Target="/ppt/slides/slide10.xml" Id="R381abb9ade7040cb" /><Relationship Type="http://schemas.openxmlformats.org/officeDocument/2006/relationships/slide" Target="/ppt/slides/slide11.xml" Id="R548c47b4c8fb4dd1" /><Relationship Type="http://schemas.openxmlformats.org/officeDocument/2006/relationships/slide" Target="/ppt/slides/slide12.xml" Id="Rce2731f445b94f0a" /><Relationship Type="http://schemas.openxmlformats.org/officeDocument/2006/relationships/slide" Target="/ppt/slides/slide13.xml" Id="Rc13dc3edce24423a" /><Relationship Type="http://schemas.openxmlformats.org/officeDocument/2006/relationships/slide" Target="/ppt/slides/slide14.xml" Id="R171067dfd9ce4b2a" /><Relationship Type="http://schemas.openxmlformats.org/officeDocument/2006/relationships/slide" Target="/ppt/slides/slide15.xml" Id="Rc9d3a4e13e934c83" /><Relationship Type="http://schemas.openxmlformats.org/officeDocument/2006/relationships/slide" Target="/ppt/slides/slide16.xml" Id="Ra167f5f42b3a4c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e1fb3fcad4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f76312a9d4b00" /><Relationship Type="http://schemas.openxmlformats.org/officeDocument/2006/relationships/notesMaster" Target="/ppt/notesMasters/notesMaster1.xml" Id="R72a77910425b4a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52bcc88ae4613" /><Relationship Type="http://schemas.openxmlformats.org/officeDocument/2006/relationships/notesMaster" Target="/ppt/notesMasters/notesMaster1.xml" Id="R860e420e5b62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f0006b3baf4ce5" /><Relationship Type="http://schemas.openxmlformats.org/officeDocument/2006/relationships/notesMaster" Target="/ppt/notesMasters/notesMaster1.xml" Id="R494ce2c0e6fb44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0eaae1177402f" /><Relationship Type="http://schemas.openxmlformats.org/officeDocument/2006/relationships/notesMaster" Target="/ppt/notesMasters/notesMaster1.xml" Id="Rac177e05b3bb4d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f5580868484f87" /><Relationship Type="http://schemas.openxmlformats.org/officeDocument/2006/relationships/notesMaster" Target="/ppt/notesMasters/notesMaster1.xml" Id="R303be5ea94f0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6da0db77b412a" /><Relationship Type="http://schemas.openxmlformats.org/officeDocument/2006/relationships/notesMaster" Target="/ppt/notesMasters/notesMaster1.xml" Id="R557ccf31fd164b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eb38d72d2a4b48" /><Relationship Type="http://schemas.openxmlformats.org/officeDocument/2006/relationships/notesMaster" Target="/ppt/notesMasters/notesMaster1.xml" Id="Ra2267b8794ed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3de2f039714891" /><Relationship Type="http://schemas.openxmlformats.org/officeDocument/2006/relationships/notesMaster" Target="/ppt/notesMasters/notesMaster1.xml" Id="R6d0baadda43340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eab4ac1fba46ab" /><Relationship Type="http://schemas.openxmlformats.org/officeDocument/2006/relationships/notesMaster" Target="/ppt/notesMasters/notesMaster1.xml" Id="R4e5dfcaf6e4e4e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3d7339886f4025" /><Relationship Type="http://schemas.openxmlformats.org/officeDocument/2006/relationships/notesMaster" Target="/ppt/notesMasters/notesMaster1.xml" Id="Rd17d625fb9724e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49f9e4e6a341ed" /><Relationship Type="http://schemas.openxmlformats.org/officeDocument/2006/relationships/notesMaster" Target="/ppt/notesMasters/notesMaster1.xml" Id="Refe0fea8ae3a46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0d7084091b4b16" /><Relationship Type="http://schemas.openxmlformats.org/officeDocument/2006/relationships/notesMaster" Target="/ppt/notesMasters/notesMaster1.xml" Id="R0eb96eef255441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14158709ca46c9" /><Relationship Type="http://schemas.openxmlformats.org/officeDocument/2006/relationships/notesMaster" Target="/ppt/notesMasters/notesMaster1.xml" Id="Re58af83bc3bb42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a2cab5649b4456" /><Relationship Type="http://schemas.openxmlformats.org/officeDocument/2006/relationships/notesMaster" Target="/ppt/notesMasters/notesMaster1.xml" Id="Rf4bb37e21c7248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e8a2ae371548db" /><Relationship Type="http://schemas.openxmlformats.org/officeDocument/2006/relationships/notesMaster" Target="/ppt/notesMasters/notesMaster1.xml" Id="R5d6cf64ba64749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6dff6e57064846" /><Relationship Type="http://schemas.openxmlformats.org/officeDocument/2006/relationships/notesMaster" Target="/ppt/notesMasters/notesMaster1.xml" Id="R73a180a47e36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4cb1a9fc7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01b28f4cd41b7" /><Relationship Type="http://schemas.openxmlformats.org/officeDocument/2006/relationships/slideLayout" Target="/ppt/slideLayouts/slideLayout1.xml" Id="R7a978e2d6d5a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78e2d6d5a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2a7411c3d41ec" /><Relationship Type="http://schemas.openxmlformats.org/officeDocument/2006/relationships/image" Target="/ppt/media/image.jpeg" Id="R681887c13a79456e" /><Relationship Type="http://schemas.openxmlformats.org/officeDocument/2006/relationships/notesSlide" Target="/ppt/notesSlides/notesSlide1.xml" Id="Rd189fb9106494f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9a5d589de4a19" /><Relationship Type="http://schemas.openxmlformats.org/officeDocument/2006/relationships/notesSlide" Target="/ppt/notesSlides/notesSlide2.xml" Id="Rce9ef5202709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f661ae37e400d" /><Relationship Type="http://schemas.openxmlformats.org/officeDocument/2006/relationships/notesSlide" Target="/ppt/notesSlides/notesSlide3.xml" Id="R10268d3a5b0a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85064913f4f32" /><Relationship Type="http://schemas.openxmlformats.org/officeDocument/2006/relationships/notesSlide" Target="/ppt/notesSlides/notesSlide4.xml" Id="R052c547d4a4840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09a3ab3f146ec" /><Relationship Type="http://schemas.openxmlformats.org/officeDocument/2006/relationships/notesSlide" Target="/ppt/notesSlides/notesSlide5.xml" Id="Rdc1e838fac3c41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9f10129b54cf2" /><Relationship Type="http://schemas.openxmlformats.org/officeDocument/2006/relationships/notesSlide" Target="/ppt/notesSlides/notesSlide6.xml" Id="Rc0d7680b114143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bb640d98249fb" /><Relationship Type="http://schemas.openxmlformats.org/officeDocument/2006/relationships/notesSlide" Target="/ppt/notesSlides/notesSlide7.xml" Id="R378ff79335944e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0e60f700c4cca" /><Relationship Type="http://schemas.openxmlformats.org/officeDocument/2006/relationships/notesSlide" Target="/ppt/notesSlides/notesSlide8.xml" Id="Re8602c3966b441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021ca36564fd9" /><Relationship Type="http://schemas.openxmlformats.org/officeDocument/2006/relationships/notesSlide" Target="/ppt/notesSlides/notesSlide9.xml" Id="R3b773915c42e4d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d08dfe224560" /><Relationship Type="http://schemas.openxmlformats.org/officeDocument/2006/relationships/notesSlide" Target="/ppt/notesSlides/notesSlide10.xml" Id="Rfd2da85b89b444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3fff82d694afd" /><Relationship Type="http://schemas.openxmlformats.org/officeDocument/2006/relationships/notesSlide" Target="/ppt/notesSlides/notesSlide11.xml" Id="Rfad7ce8c598241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f1fe6ab7a4669" /><Relationship Type="http://schemas.openxmlformats.org/officeDocument/2006/relationships/notesSlide" Target="/ppt/notesSlides/notesSlide12.xml" Id="R6ddbb62ebf304c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c321943e84d4f" /><Relationship Type="http://schemas.openxmlformats.org/officeDocument/2006/relationships/notesSlide" Target="/ppt/notesSlides/notesSlide13.xml" Id="Redd28fc618664c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a7c336ef243bf" /><Relationship Type="http://schemas.openxmlformats.org/officeDocument/2006/relationships/notesSlide" Target="/ppt/notesSlides/notesSlide14.xml" Id="Rccb6bebadd2b4f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b381e45a24cdf" /><Relationship Type="http://schemas.openxmlformats.org/officeDocument/2006/relationships/notesSlide" Target="/ppt/notesSlides/notesSlide15.xml" Id="R718c8aa31b5c4f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3c185f384ca3" /><Relationship Type="http://schemas.openxmlformats.org/officeDocument/2006/relationships/notesSlide" Target="/ppt/notesSlides/notesSlide16.xml" Id="R551fc2f0d923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341AE-DC69-4E8D-B501-76070E59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ЭКСПЕРТ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91E4B-9044-4AAB-BEF9-5D72004C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E95F3-7528-4821-AA6C-E9BA01E4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F0DAB-C292-490E-9D9C-1DAA86DD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3371850" cy="40957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887c13a79456e"/>
          <a:srcRect xmlns:a="http://schemas.openxmlformats.org/drawingml/2006/main" l="0" t="9515" r="0" b="9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47750"/>
            <a:ext cx="3371850" cy="4095750"/>
          </a:xfrm>
          <a:prstGeom xmlns:a="http://schemas.openxmlformats.org/drawingml/2006/main" prst="roundRect">
            <a:avLst>
              <a:gd name="adj" fmla="val 678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D9049-1D2F-4685-AA9E-C9CE1593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2A37"/>
                </a:solidFill>
              </a:defRPr>
            </a:pPr>
            <a:r>
              <a:rPr sz="3150" b="1">
                <a:solidFill>
                  <a:srgbClr val="1F2A37"/>
                </a:solidFill>
              </a:rPr>
              <a:t>Екатерина Коптелова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7509B-7F76-4F5A-B07F-D9EEAB95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B75"/>
                </a:solidFill>
              </a:defRPr>
            </a:pPr>
            <a:r>
              <a:rPr sz="1650" b="1">
                <a:solidFill>
                  <a:srgbClr val="1F6B75"/>
                </a:solidFill>
              </a:rPr>
              <a:t>Финансы. Управленческий учет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46B08-68A6-447D-A43A-4792B9E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F2A37"/>
                </a:solidFill>
              </a:defRPr>
            </a:pPr>
            <a:r>
              <a:rPr sz="1575">
                <a:solidFill>
                  <a:srgbClr val="1F2A37"/>
                </a:solidFill>
              </a:rPr>
              <a:t>Собственник и руководитель бухгалтерского аутсорсинга.</a:t>
            </a:r>
          </a:p>
          <a:p xmlns:a="http://schemas.openxmlformats.org/drawingml/2006/main">
            <a:pPr>
              <a:defRPr sz="1575">
                <a:solidFill>
                  <a:srgbClr val="1F2A37"/>
                </a:solidFill>
              </a:defRPr>
            </a:pPr>
            <a:r>
              <a:rPr sz="1575">
                <a:solidFill>
                  <a:srgbClr val="1F2A37"/>
                </a:solidFill>
              </a:rPr>
              <a:t>В профессии с 2007 года, работает с предпринимателями и компаниями на этапе роста и перестройки процессов.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0FAF0-A808-42D0-AF09-B8FF6C1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59055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384EA-450E-4CB0-BF86-0472552E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909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8C2F0-055A-4686-B95A-858BAF32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Фокус экспертизы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9E43D-A3C7-4A06-AE5D-725BEC4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053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Налоги, управленческий учет и практические решения для бизнеса в строительстве, образовании, торговле, производстве и инвестиционной деятельности.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02BF9-1340-4492-8868-CB6F241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721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9153"/>
                </a:solidFill>
              </a:defRPr>
            </a:pPr>
            <a:r>
              <a:rPr sz="1050" b="1">
                <a:solidFill>
                  <a:srgbClr val="B99153"/>
                </a:solidFill>
              </a:rPr>
              <a:t>Аутсорсинг учета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9C584-271D-4416-8C52-1B91B62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72100"/>
            <a:ext cx="1200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9153"/>
                </a:solidFill>
              </a:defRPr>
            </a:pPr>
            <a:r>
              <a:rPr sz="1050" b="1">
                <a:solidFill>
                  <a:srgbClr val="B99153"/>
                </a:solidFill>
              </a:rPr>
              <a:t>С 2007 года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0B075-C744-49EA-92B5-E52BC63D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7210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9153"/>
                </a:solidFill>
              </a:defRPr>
            </a:pPr>
            <a:r>
              <a:rPr sz="1050" b="1">
                <a:solidFill>
                  <a:srgbClr val="B99153"/>
                </a:solidFill>
              </a:rPr>
              <a:t>Малый и средний бизнес</a:t>
            </a:r>
          </a:p>
        </p:txBody>
      </p:sp>
    </p:spTree>
    <p:extLst>
      <p:ext uri="{BB962C8B-B14F-4D97-AF65-F5344CB8AC3E}">
        <p14:creationId xmlns:p14="http://schemas.microsoft.com/office/powerpoint/2010/main" val="679936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2C40F-7624-49DE-A094-919B58D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B6B22-1473-4CDB-B159-0EF7EE2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A85C1-FA45-4A3D-BD52-434D0FA8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98603-C27C-4F3D-A87A-C9297E1D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191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286EB-C4B6-433D-882E-CA662999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3810000" cy="4191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EC5A5-BD8F-409D-89B5-020FF35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F2A37"/>
                </a:solidFill>
              </a:defRPr>
            </a:pPr>
            <a:r>
              <a:rPr sz="3450" b="1">
                <a:solidFill>
                  <a:srgbClr val="1F2A37"/>
                </a:solidFill>
              </a:rPr>
              <a:t>Как понять, какая система налогообложения подходит бизнесу?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873ED-F1F8-4478-B37F-DDF0A9A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82"/>
                </a:solidFill>
              </a:defRPr>
            </a:pPr>
            <a:r>
              <a:rPr sz="1650">
                <a:solidFill>
                  <a:srgbClr val="657182"/>
                </a:solidFill>
              </a:rPr>
              <a:t>Учебный маршрут: режимы, ошибки и сигналы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01B1A-AD04-4D56-8AD5-5C3D1A1F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1695450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58815-6954-4210-8201-2334E1F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Режим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31520-E776-47FC-BFCD-C0B20AB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какую систему и базу выбирают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9F0DD-0222-42B9-B190-4124F75B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57350"/>
            <a:ext cx="1695450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74AC4-6D0E-40C2-ACCE-E905CA89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288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Ошибки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39842-E38F-4A4F-9D17-B57660DD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где бизнес чаще ошибается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7D942-BDF3-4241-917C-F44CE740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695450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67950-3664-400A-BCBB-E967437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575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Сигналы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1F2A0-96A3-47BE-98A1-96C46732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что настораживает налоговую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17F4F-8B01-4246-BD29-6C6BECF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695450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2EA1A-371C-43D8-9E25-86118B32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0FBA4-28DC-400B-AF72-9DA8EA8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что важно запомнить студенту</a:t>
            </a:r>
          </a:p>
        </p:txBody>
      </p:sp>
    </p:spTree>
    <p:extLst>
      <p:ext uri="{BB962C8B-B14F-4D97-AF65-F5344CB8AC3E}">
        <p14:creationId xmlns:p14="http://schemas.microsoft.com/office/powerpoint/2010/main" val="28851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CED99-C370-49D0-BBFB-DACD212B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ОБЗОР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C3860-FB26-4F15-BEC9-D0463908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980C4-E070-489E-B986-45D327E7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DF9F4-F218-4815-A58C-F6F85A59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Сначала важно увидеть всю карту налоговых режимов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2442F-2F6B-4177-A985-7BA6BAD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Ниже - шесть базовых вариантов по состоянию на 2026 год. Сначала запоминаем логику, потом цифры и ограничения.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B58F2-8243-4F96-9ECE-5FF43618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528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9120E-F9A3-4496-B9AA-F9C5E405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D71A6-7999-4210-85C0-D00B4285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ОСНО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24A13-AB9C-4D8C-8E8F-F840ECF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крупный бизнес,</a:t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работа с НДС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25% прибыль</a:t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22% НДС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2DA65-EA93-4448-A952-4CED28F1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33528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11A04-49AA-4122-9453-A1E1136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8E334-54D7-42E7-A7F6-31D867C6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УСН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9EE7E-83EE-42EB-B08A-368B5927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малый и средний</a:t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бизнес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6% или 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5E4DB-D77F-4509-BB92-8ED1567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3528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A664C-86D6-4265-A7C2-E2903611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E511F-8102-4D68-A5BC-D86F79A8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АУСН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CEA30-7174-449E-A971-32E8FA72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микробизнес в</a:t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эксперименте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8% или 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38877-22B4-4DC4-8E27-3A928690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3528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5366E-9257-4E44-AA27-9B9533AB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0DFDC-BF8E-47A3-94D0-2B4AA92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ПСН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FCE9C-CC4B-435E-9A3D-F43D8E60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только для ИП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стоимость патента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9BBFE-922A-4D01-A6AD-58AE563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3528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CBF98-3232-4416-BBE5-35BC673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767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11BE8-7DEA-4192-8E6C-A417C7F0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ЕСХН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FECCE-A491-4E11-99B4-E73911C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сельхозпроизводители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6% с базы</a:t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доходы минус расходы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D57C6-0655-4C92-88B1-6E3BA413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3528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346D5-3E3D-499D-8913-4A5B5B96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B471B-4113-46B7-8691-BF3D530E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НПД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A8D35-A9DB-4A3D-AEF6-1E72E4B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самозанятые</a:t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без работников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4% / 6%</a:t>
            </a:r>
          </a:p>
        </p:txBody>
      </p:sp>
    </p:spTree>
    <p:extLst>
      <p:ext uri="{BB962C8B-B14F-4D97-AF65-F5344CB8AC3E}">
        <p14:creationId xmlns:p14="http://schemas.microsoft.com/office/powerpoint/2010/main" val="1881285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5CB9F-E2CF-47E0-8DBD-578B4E9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РЕЖИМ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28098-F76E-4B52-B7F0-929A497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A9CD5-E1CC-454F-8084-7C935DBC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9E56B-E7AF-4E1D-8AF1-25880A8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ОСНО - режим для бизнеса, которому важны масштаб и работа с НДС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95DE9-2747-4493-8259-C53FEF2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Главная мысль для студента: этот режим сложнее, но он нужен там, где важны крупные клиенты, вычеты по НДС и отсутствие лимитов.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0C28F-D024-4997-BEC1-6DD6288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B4E2D-CDC7-4F23-9D62-3367CCB3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EE8CC-6337-415D-885F-4C63CBA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налог на прибыль для организаций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351B7-C623-4B09-A2BC-8F6B7E0D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81497-53AA-49EE-AFA0-2AAFCE4B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22%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2566C-8F1E-4B8F-BCC9-AED219B6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основная ставка НДС в 2026 году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3CB5F-5898-442E-BFBC-76BC88EA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E4126-D3BB-4BBA-8E35-7D6D8DF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без лимитов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7A7A0-DD20-40E1-ADCB-59CCE69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по выручке и численности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2F786-0A44-4717-A3ED-7BD0DE9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F2644-0CEC-4DCD-934B-0241141D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EC93F-B4A7-42D3-BE84-3C9D2F7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Когда режим уместен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F529C-0727-466C-A193-2FFD81FD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66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Когда бизнес работает с НДС, имеет существенные расходы и не хочет зависеть от лимитов спецрежимов.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82CA4-3106-49A8-B4F6-D691038C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35433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FD531-41BD-4F0F-9D63-A89A45F4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7E2DC-5873-4009-BBF7-CCB1E93E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Плюсы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312EC-5C36-423D-A909-BA1AA830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3162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A903A-6F37-4FDD-9452-BABF8775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0491F-8149-4293-9593-A452B643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нет лимитов по выручке и масштабу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E1458-11AC-4D93-BB4A-66B0944C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D9676-96F2-44E7-924E-B7B0A8B9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понятен крупным контрагентам и тендерам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9E1F5-44B3-4849-8E91-21FAFC07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75C51-F823-408A-B6C0-DEF59AFD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дает полноценную работу с НДС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68F2F-725D-4A75-901B-94A6DC85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3562350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C6E13-E8B2-4FD6-A9DE-CAA0772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B4B028-9BF8-4003-BFFC-6A913D39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Триггерные точки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DEDB3-9E73-41FE-8CCB-7E8C948B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2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2C664-D552-488D-A5CF-166C033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FAD390-4024-42CC-8C7B-97DA4DA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учет и расчеты сложнее спецрежимов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7E6AD-E047-4FE9-8072-C54FE97D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A65BE2-8571-48A1-B89A-00036D2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для ИП добавляется НДФЛ по прогрессивной шкале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2840D9-B0B0-49E6-8E84-DAAB06A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B22A00-C493-4511-8887-EAAB941C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ошибки по НДС и прибыли быстро ведут к доначислениям</a:t>
            </a:r>
          </a:p>
        </p:txBody>
      </p:sp>
    </p:spTree>
    <p:extLst>
      <p:ext uri="{BB962C8B-B14F-4D97-AF65-F5344CB8AC3E}">
        <p14:creationId xmlns:p14="http://schemas.microsoft.com/office/powerpoint/2010/main" val="174591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FF490E-37F9-4239-A60E-2E8885BE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РЕЖИМ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5457F-0D76-409C-88FB-35ADE5F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52C5E-0256-4666-A613-62E5C40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BABC6-ECD7-460C-8C7D-B4A9C639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УСН - самый частый стартовый режим для малого и среднего бизнеса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860E8-872D-4292-A5C4-F8058CF1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Главная учебная мысль: внутри УСН важно понять разницу между объектом «доходы» и «доходы минус расходы».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42927-1F32-42CE-8D3F-D4228269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19717-6A54-49AD-8941-74A365E2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943F1-6928-43CC-9BFE-61A96D1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объект «доходы»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941DA-C0C5-4CD9-BFFA-45FD4A22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DEF71-E05C-4DBD-919B-301DD9B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1C4F6-C4C9-4E50-8F18-9D8A59DC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объект «доходы минус расходы»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2190B-214C-4742-B8A3-0D69E0B5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29591-1738-4597-A087-63B780BA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490,5 млн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72279-EF92-49A0-AA56-4CF5C18A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лимит дохода на 2026 год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34F91-5970-4DAE-BB44-217361F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DBD1E-DABD-45F2-AF00-A41D5188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00BAE-3895-466D-A3F5-B58944BD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Когда режим уместен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52BAE-560F-47BE-9203-AA851F39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66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Когда бизнесу нужны понятные правила, более простой учет и нет необходимости постоянно работать в логике ОСНО.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BE628-3467-4722-8F0B-6B1AC424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35433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6D70-7C86-4B6E-B020-78FACF6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2D5CB-94EC-46CF-8D6E-F2635E91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Плюсы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CF23A-88FF-4AB8-A02B-8BACE1E4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3162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53B08-8B00-4137-A692-D155FBE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B5B9E-6F2B-4523-BA01-496FCB1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простая логика расчета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DEE8-5A24-46C3-A41A-CBF5609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1668B-CA0C-47C0-9795-F365031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меньше административной нагрузки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EA266-65F1-4D32-89B5-E34DA7A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0483B-B6EF-4DD1-A708-3E3B8BD8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можно выбрать объект под экономику бизнеса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76A71-D156-4019-9B84-25303B38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3562350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4FE6D-7875-4E03-953D-39E7FFF4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05E46-6BE7-4980-A4A8-D2FE2507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Триггерные точки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0438D-2C2D-40E4-9613-C5E9F084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2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145D2-E44D-4F8C-A454-63A7B3A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3D7CE9-A66E-4508-BB43-BAA73E6C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лимиты по выручке, активам и численности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53EF3F-BCA0-4CC6-9DC5-F9EAF4C4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7DAA18-408F-443B-ACD0-E1AADFF6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не всем клиентам удобна работа вне модели ОСНО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10ABF-CD8B-43E0-BD4F-80F3D304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3A594D-CE3F-489F-9FAD-24DB1C4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неверный выбор объекта быстро снижает прибыль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49422C-DD8C-4CA2-8DB1-1DFE6793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182"/>
                </a:solidFill>
              </a:defRPr>
            </a:pPr>
            <a:r>
              <a:rPr sz="1050">
                <a:solidFill>
                  <a:srgbClr val="657182"/>
                </a:solidFill>
              </a:rPr>
              <a:t>Численность работников: до 130 человек. Освобождение от НДС в 2026 году зависит от порога выручки и специальных правил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151306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E1D20-9B47-46EC-8419-E4BD51CC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РЕЖИМ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59CC0-8960-4CF3-8952-842E1CB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D8617-5F72-4382-A863-FE31D98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A0E1F-04ED-4751-B6F1-5051EBF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АУСН показывает, как выглядит почти полностью автоматизированный спецрежим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7AA6B-397B-4530-BF7C-8E0E772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Студенту важно понять: режим удобный по отчетности, но доступен только очень ограниченному кругу бизнеса.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617F2-8FB0-4B6D-93DB-F67D842D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996B3-9C2C-473B-B0B0-0FFE34FA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BCF8A-76FF-4268-A75E-00FB4368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объект «доходы»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E26AF-B63B-4AB3-AB32-7845925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32A3B-FC2E-40DF-81A7-425233C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84789-8DA5-4641-842C-6562BC4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объект «доходы минус расходы»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92C9C-AC4F-403A-B5DE-8310AB4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504EF-C4FB-4322-874A-2F8B629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60 млн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00683-5B6D-4EC4-8277-173E247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годовой доход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0BFE8-86FD-4BD5-96A8-8FBE1529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9708C-80EC-4DCA-8D0F-7269EAD5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099C6-1303-4075-9A7F-A4655CA4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Когда режим уместен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8F312-2DF2-4503-BFB1-B9E7D41D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66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Когда бизнес очень компактный, а главный запрос - снизить объем ручного учета и отчетности.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BC698-3AF5-43C9-8056-404B678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35433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D2C02-0997-485D-AF4E-1A1C1493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11062-118B-4E84-91A5-34CE6EEE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Плюсы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C92F0-7234-4DED-85A5-076C182C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3162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8F7D3-FC9B-404F-B2C3-FA00C311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7EB4A-E0AF-4448-B561-5801D665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почти нет обычной отчетности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22B24-DE0A-4FE7-8B56-D8EA05E4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075BB-9006-4410-8F70-13653F2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налог считает инспекция по данным системы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215F0-C484-451B-BBC9-101B6244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AC686-FE71-43F3-AED7-EC71156B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удобен для небольших оборотов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0D718A-6F21-4E52-AD29-0AFDF28E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3562350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69376-F712-4BF1-BDE3-C52392A7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174FD-DBDD-4CCC-8E29-D81FBDC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Триггерные точки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17A4A-8FF5-4F80-A668-A3CB04F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2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77815-2134-40EC-AC8A-7D27CBD3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0AA9B0-AC40-41D3-ADB7-DEAC68E6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не более 5 работников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711767-967F-4712-8EF2-A896C1A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4F6E60-FD35-41D3-8806-A882DEB9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только определенная инфраструктура банков и расчетов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BD316D-2EB2-4F8C-A6FF-9516AEF4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ABE7C4-DE74-4F0B-8712-0BC5DDD6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режим пока действует в рамках эксперимента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FE3EE5-A456-466B-8E56-B80F42E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182"/>
                </a:solidFill>
              </a:defRPr>
            </a:pPr>
            <a:r>
              <a:rPr sz="1050">
                <a:solidFill>
                  <a:srgbClr val="657182"/>
                </a:solidFill>
              </a:rPr>
              <a:t>Дополнительно: остаточная стоимость ОС у организации - до 150 млн руб.; совмещение с иными спецрежимами не допускается.</a:t>
            </a:r>
          </a:p>
        </p:txBody>
      </p:sp>
    </p:spTree>
    <p:extLst>
      <p:ext uri="{BB962C8B-B14F-4D97-AF65-F5344CB8AC3E}">
        <p14:creationId xmlns:p14="http://schemas.microsoft.com/office/powerpoint/2010/main" val="1122138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3FBF5-174F-4EB8-86EA-EEC4954D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РЕЖИМ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56585-8901-43AE-9D4B-C27546FC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E16D8-19DF-4121-93A1-3AA4DD04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41DB-E240-4B1B-8103-4BE1F359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ПСН полезна, когда предпринимателю важна заранее понятная сумма налога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BC106-86FC-4A0D-A888-B96F56E2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Для студента важно запомнить: режим только для ИП, зависит от вида деятельности и от региона.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ABFF8-B7B8-4BEC-8D5A-90A1B059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70803-EA77-4138-86C6-26477BDC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только ИП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5E2E-7E36-49A5-B7C2-D0F6E1F4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кто может применять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F8DD2-363C-401F-9348-41B77E79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2D733-6FA4-4878-B716-7737440D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20 млн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E9FD6-F45E-4920-A1FD-CF211A4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лимит дохода в 2026 году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6AE64-610A-49AB-9717-9C277935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8FCA8-A40B-4B04-B906-5C34E5B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фиксировано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465EE-EBE8-43F3-AB2F-850D8E13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налог - стоимость патента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B2E2E-4F4D-4360-B290-E118F95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AF325-7BD1-44C7-BB1D-9BBF5F78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49462-80FB-4AF1-A698-36FAE8B6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Когда режим уместен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52E14-C36E-4510-8C63-8E14C97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66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Когда доход по деятельности прогнозируем, а предпринимателю нужна простая и предсказуемая модель.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77B63-47DF-42F7-A735-1891935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35433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CB7EA-2136-4D8C-8EDD-B6A1AD5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9CF4E-FD7E-4252-874B-8EA0FE1F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Плюсы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B2034-3B01-453E-A556-DD0227F4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3162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B1D35-5B57-4087-960E-2CB7CA85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9ED25-2016-43AA-AEF8-987CDA1C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заранее понятна стоимость налога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1EFD2-5085-4955-9EF0-FDB0178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13146-ADB0-4C70-86F7-CD89F4A3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не нужно считать налог с каждой операции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06854-EC92-42AF-89BA-3D6B100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E9D27-5B78-403B-AB8C-8BD9BF18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можно брать патент на нужный период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ADF68-0296-459F-B0FA-2AE798B6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3562350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8CE307-BC38-4672-9A40-DAF8CDDF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81185-3053-4C5A-BC12-75C48C5A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Триггерные точки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2490FB-8370-47B2-B434-B54D8CA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2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4B187B-8DCD-4135-808D-0E984CC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5D684-F584-46D6-9C4A-1783D8A8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патент не дешевеет, если доход оказался ниже ожиданий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DC98F-C050-4E70-BE28-7813D36F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F7A28A-391F-403B-A37B-BAB2439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в 2026 году действует лимит дохода 20 млн руб.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B9DF18-7744-4BB5-B12A-8536019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EF0FA-26BA-41CD-963E-FEB9B530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при совмещении режимов нужен раздельный учет</a:t>
            </a:r>
          </a:p>
        </p:txBody>
      </p:sp>
    </p:spTree>
    <p:extLst>
      <p:ext uri="{BB962C8B-B14F-4D97-AF65-F5344CB8AC3E}">
        <p14:creationId xmlns:p14="http://schemas.microsoft.com/office/powerpoint/2010/main" val="690531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C53453-1C73-43FF-86F6-80DA8ED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РЕЖИМ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F0085-EA44-472D-A6D2-E9827F4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ACCAD-3560-410B-A3D4-4F077F50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48387-19E2-499A-A310-192606F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ЕСХН нужен тем, кто действительно работает как сельхозпроизводитель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2977-233F-4604-A3C4-E3FA1CD9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Важно не перепутать отрасль и право на режим: не каждая компания в агросфере может применять ЕСХН.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EB22F-74ED-463F-A7AE-AD5465B9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5873D-3F0B-44E7-864A-E64D866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54A72-9A4E-4813-BB56-3B5962CA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базовая ставка налога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54185-C7AF-4C69-91BC-8E3E5322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6A7D0-C5F2-455A-BB35-999EA74A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доходы - расходы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3CACB-762C-48F2-82F5-0B3314E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налоговая база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AEEF9-386B-4D44-B8CE-C5864BDE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4FA89-E095-472B-9670-40D295B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70%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E2A1E-EBA7-4141-A494-2248791E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минимальная доля профильного дохода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6D147-2486-4CBC-AF8E-167AC70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E1EA7-D2E2-4405-8E66-FAE121E6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FA8E6-ED71-4770-A352-C4055A60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Когда режим уместен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B9870-430D-4844-B8C1-FC31D8F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66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Когда компания или ИП действительно получают основной доход от сельхоздеятельности и проходят отраслевые критерии.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CF0DC-16F5-4EFB-A5C4-041057A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35433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5CCEE-8957-4C9D-928E-C222AE4D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CC2E0-9CB7-4E6C-8CBE-AFB465F8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Плюсы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29C4E-23D9-4510-823E-1DB8BE82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3162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979E4-6DDF-4F04-8C90-EB1BCAC6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20CE3-A4FA-4BEA-A3C9-CC301B5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низкая ставка по отношению к базе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CD663-9E97-49E9-957D-586A0AE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13DCC-F9B0-4051-B92A-B01E0294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специально заточен под отрасль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4B69A-E0B4-4A4C-AF7C-22561F83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8FEB3-2AB9-4D65-80F3-002DA71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подходит для сезонной структуры расходов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E6C7-B32A-44D4-80EE-CBADF86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3562350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AF4FC-3127-4120-BD7D-55D6E7B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19708A-ABBF-4336-AFBE-B0273E4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Триггерные точки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AE458F-F56A-42B2-97AE-39B1954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2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6BD52D-7ABA-468C-810D-1F745B8C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49741-6EB4-461F-A07A-91EA61FF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нужно подтверждать отраслевой статус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C22573-01B6-416B-9417-8B67E8B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BE63C3-B7F2-4CFC-ACF3-2718B4C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нарушение доли профильного дохода лишает права на режим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14F41F-9BB1-4C8C-AC30-1C9E1B6C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3E31B-445D-4BFB-B703-6B6A0ADE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вопросы по НДС и региональным правилам нужно проверять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1005975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6F17DB-5934-40A1-BC41-A37D8AD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РЕЖИМ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E8E7C-3476-4E2E-B6AF-8AD1279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4DFDA-15CB-4E73-A1C3-F0185CD1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FF86E-C891-47D6-97BE-25552DC2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НПД подходит только там, где человек действительно работает на себя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2BEA-757F-4955-9F87-8825154A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Это один из самых важных режимов для студента: он простой, но именно его чаще всего пытаются использовать неправильно.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09F73-A083-4077-849A-A00B870E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3F676-272A-408B-B04F-05CF6228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12AB8-F7A7-418D-86A0-6D0F9E4D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доход от физлиц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4DF7C-0B10-4504-B3D0-1095FF18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4B97E-3007-4207-BE0B-3A1219E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7182E-BE03-467A-A657-FF819EA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доход от юрлиц и ИП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A6EE5-6835-40E4-A725-73B27F5A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52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D4FF6-2DA0-4856-9ADC-0740A4C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6B75"/>
                </a:solidFill>
              </a:defRPr>
            </a:pPr>
            <a:r>
              <a:rPr sz="2100" b="1">
                <a:solidFill>
                  <a:srgbClr val="1F6B75"/>
                </a:solidFill>
              </a:rPr>
              <a:t>2,4 млн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6D759-FDAC-4655-B1EE-4EB2F5E4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82"/>
                </a:solidFill>
              </a:defRPr>
            </a:pPr>
            <a:r>
              <a:rPr sz="1125">
                <a:solidFill>
                  <a:srgbClr val="657182"/>
                </a:solidFill>
              </a:rPr>
              <a:t>лимит дохода в год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F7405-EB24-4B49-80C6-C39592F0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47FB1-A4A9-488B-B9DB-2A8A8FAC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6D7FD-60A5-4DC5-AD26-1CCD0BD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Когда режим уместен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88AA6-52FD-439C-9EAD-DB369B9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66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2"/>
                </a:solidFill>
              </a:defRPr>
            </a:pPr>
            <a:r>
              <a:rPr sz="1350">
                <a:solidFill>
                  <a:srgbClr val="657182"/>
                </a:solidFill>
              </a:rPr>
              <a:t>Когда человек работает без сотрудников, сам управляет своим временем и не встроен в чужую штатную функцию.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1A9DE-405D-4DB6-B826-CF3CEAE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35433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9E40F-387A-4AAB-BE32-1170D72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AC263-F1C3-41F0-9D3F-A4CA4707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Плюсы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84956-1E92-4357-9A34-8CA67A1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3162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C7D83-87EF-4344-B0BB-1C5CCB1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79D4D-17BB-4AF7-A176-21AF6569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простая регистрация и нет отчетности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1ED5D-7A60-4A78-935D-20F46402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882F1-C19D-4598-A1D6-135338D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низкие ставки и автоматический расчет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1F2A1-265F-4A7B-A160-C02E7903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606F2-5E67-4882-A3CD-C6A053C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3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удобен для частной практики и небольших услуг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CB3B9-7036-44C5-A154-6D0BD01E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3562350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EAE8A-0B15-4BD1-B98F-0BBD6A2C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038874-E15A-4885-9A69-E8B9E241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Триггерные точки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09949-93A5-4323-9477-51D2A09E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29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59726D-4176-46EF-BC1C-3485626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E409E8-A2D6-4D8D-BA81-EF90E08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превышение лимита лишает права на режим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4804E-4641-4688-AFD0-A47481EB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0A4D8-CC75-4E77-B1F2-1FF7B20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режим нельзя использовать вместо штатной функции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39C5DF-2C18-4C82-A199-148BC43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4F564D-C0C5-4506-B233-9FA9D35B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нанимать работников для деятельности на НПД нельзя</a:t>
            </a:r>
          </a:p>
        </p:txBody>
      </p:sp>
    </p:spTree>
    <p:extLst>
      <p:ext uri="{BB962C8B-B14F-4D97-AF65-F5344CB8AC3E}">
        <p14:creationId xmlns:p14="http://schemas.microsoft.com/office/powerpoint/2010/main" val="154787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DD6E6-C652-4AE0-9D9E-B6413ED9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B1F8A-ED98-49B1-A5A8-9C83CC2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6A267-AE93-4788-ABEF-6BCDE2D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8CEEE-C27C-4615-A2D7-55F0454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Как студенту запомнить логику выбора режима?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D6E2B-F7C4-4B69-B413-5AE9EF3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В реальном бизнесе режим выбирают не по одной ставке, а по сочетанию выручки, расходов, клиентов и планов роста.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740ED-961B-44DE-B5B0-8737565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003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6B736-42CC-47F0-B111-62BB205D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Какой будет оборот?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13CD0-1538-4362-ABE4-8F117E6D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Лимиты по выручке сразу отсеивают часть спецрежимов.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E1C07-729D-4D7B-8CB5-19A92AB1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24003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6896E-2A93-43B4-BA87-671E5E1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Какие будут расходы?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759E3-697B-4367-9D44-CC99FFB8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Если расходы большие, важен выбор базы: с доходов или с разницы.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B916D-C0BC-4FCD-B8D6-219A817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24003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9D959-6C95-426C-B928-57F5748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Кто клиенты?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6A8C0-B1E4-410C-8D9A-42B454F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Крупные заказчики часто ждут понятную модель работы с НДС.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3D772-96B9-442D-9061-566DC06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4003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D3D1F-BE8B-4B0B-B704-B9833CC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Как бизнес будет расти?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6860E-9B31-4CB9-B42E-08B35CE8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Штат и новые направления могут быстро изменить выбор режима.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2CA3C-EA7F-4EEB-BE49-79D2D79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172700" cy="13335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9525">
            <a:solidFill>
              <a:srgbClr val="D9EC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78120-5B65-4F26-84FF-C418DBF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DC49F-378C-4EF4-950F-BF7A5949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Главный учебный вывод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19121-5D42-4723-B66B-7207826A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Режим выбирают не по самой красивой цифре, а по тому, как реально устроен бизнес и какие налоговые риски он несет.</a:t>
            </a:r>
          </a:p>
        </p:txBody>
      </p:sp>
    </p:spTree>
    <p:extLst>
      <p:ext uri="{BB962C8B-B14F-4D97-AF65-F5344CB8AC3E}">
        <p14:creationId xmlns:p14="http://schemas.microsoft.com/office/powerpoint/2010/main" val="17312411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6B773-FFA2-47C8-A953-B431ECA8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8B2A-37B2-4FA9-942B-2BFD67E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22283-F87A-48FE-B15A-A5C6EAA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E1355-981A-45C7-94DD-0C4010B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Где чаще всего начинаются ошибки по режимам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7F8B6-B094-4D52-8AB3-9D6EFA3F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Триггерная точка - это место, где удобный режим превращается в риск доначислений и спора с налоговой.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67991-7987-4248-9E94-D4A88DB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2766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A732E-1CA7-4D59-B605-29033ADC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43223-B2E3-44F2-98BA-569EC635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ОСНО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97151-79FA-4B39-B8FD-53F9963E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895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81D27-2D6B-4F3D-9769-8102D124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DA3F5-7D69-45AC-92A8-609B728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НДС и налог на прибыль требуют сильной первички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35E6B-2E2E-4728-A925-E3733CCE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4D996-A04B-4B50-A1B8-D495FAE9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ошибки по ФОТ быстро превращаются в доначисления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BF94E-064F-46AF-AC77-563A14E6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FA2AE-685E-4018-8C4F-6688354D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сложные сделки и вычеты нужно сопровождать доказательствами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EDD18-98D4-42C7-AC2E-A20C070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86000"/>
            <a:ext cx="32766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A75B1-8445-4EBE-9AE3-9F241CDA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C6BE6-3A3B-42CF-88D7-863C3B97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УСН, АУСН и ПСН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AA97D-354C-4639-8514-7231430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2895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D72FD-AA32-49AA-B81B-F08EDD6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B6D55-94BE-4C44-B9F1-F69D8D55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лимиты по выручке и штату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57B18-2B8A-461C-9278-F7C789B5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2D55F-6B12-4E64-A29E-435A8AC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искусственное дробление бизнеса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6F97C-C58E-4517-8BE5-1762B31B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2DC2D-B642-4F64-BD9F-68C85AE8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слабый раздельный учет при совмещении режимов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EF0F9-58AF-44E4-B2AD-C0471BCF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2766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E563E-7FAE-489E-BC4E-39F34A0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70734-5893-4906-827E-64CB6DB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НПД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A151E-FBC2-4841-9030-C4586D6E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2895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6FA9E-83B4-4195-9DE3-410B0EEC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65CBE-08EA-4891-AF93-F1066BFC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подмена трудовых отношений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EAFFE-924F-42A1-B8C4-C9151D0D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75DAF-169E-47E4-8800-8D9E63B1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превышение лимита дохода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D0DEAF-4974-4F37-A723-A952EAE5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B1B64D-5678-4544-A041-66E30E99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исполнитель фактически встроен в чужой процесс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77CD1-357E-4C1C-AA36-2605A59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Чем проще режим, тем внимательнее нужно следить за правилами его применения.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872971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63049-77DB-4E0E-990D-D4F661D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ДРОБЛЕНИЕ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995E1-9708-4DF2-BA89-CF64874F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D02F3-BC09-494E-8FE8-A5410F16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4671A-3578-4AB0-9221-FAA9EC7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Как понять логику дробления бизнеса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8ACC1-AF3B-4DA1-8723-0613F30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Для налоговой главный вопрос всегда один: это самостоятельные компании или искусственно разделенный один бизнес?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1F19C-1F2F-4A19-8B41-13AE408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8768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5671C-E758-4F86-A21E-C5089BB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9644-2A37-48B7-9E23-9E9CC20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Основные сигналы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65FDD-B8A6-4BED-809D-65042CC2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495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96F2B-7107-443A-8854-3469C1C9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036E1-B0CC-4DA6-95FA-BBC12D15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есть единое контролирующее лицо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2C282-C716-4F47-8015-4693CC8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ECF4C-BC93-4039-91DC-5ED7CE1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один бизнес-процесс формально разделен на несколько лиц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9B047-A95F-42C8-95E6-288ED8AA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88CE8-15A0-450F-A10B-EF79BBDD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подконтрольные компании не принимают самостоятельных решений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9BA6A-5072-48B2-B4D5-B245B7C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99ABD-416F-42DA-A8DF-09A00BC7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используются общие сотрудники, активы и контрагенты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7DBDB-8919-4D2E-ADC0-816B9786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B3AE5-D502-4EFF-BEAC-C85EE0FA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ресурсы распределяются формально или безвозмездно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F0B27-CD0E-435E-AB1A-E28085D4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50292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CAE42-C647-48B0-B205-49F1A02A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77E5D-4920-4CF2-B61A-A40FDEF0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464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Что усиливает риск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16DB2-DFFB-4CC9-866F-5D1734D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209FF-0BFA-47FD-8F94-7F4878C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1539C-D721-4D75-A881-CE11919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совпадающие адреса, телефоны, сайты и управленческие функции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C20C7-677C-4939-8EBC-C5A0F810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ABCD7-9BD1-4CB8-902D-3F6DBF9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623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единая касса, общая реклама и общий отдел продаж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106C4-F9BC-43BF-9EFD-26B380A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25B03-690E-4698-934E-2ED4BE4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резкое перераспределение выручки для сохранения спецрежимов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436F5-C622-4C9C-925E-BCE263E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EAC60-83D3-4777-8AD1-FE0F500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A37"/>
                </a:solidFill>
              </a:defRPr>
            </a:pPr>
            <a:r>
              <a:rPr sz="1350">
                <a:solidFill>
                  <a:srgbClr val="1F2A37"/>
                </a:solidFill>
              </a:rPr>
              <a:t>формальные договоры между зависимыми лицами без деловой цели</a:t>
            </a:r>
          </a:p>
        </p:txBody>
      </p:sp>
    </p:spTree>
    <p:extLst>
      <p:ext uri="{BB962C8B-B14F-4D97-AF65-F5344CB8AC3E}">
        <p14:creationId xmlns:p14="http://schemas.microsoft.com/office/powerpoint/2010/main" val="428488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A428A8-C101-4A12-A8AC-D6A04179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ДРОБЛЕНИЕ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5A021-22D8-4C94-BA14-394317DE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8BB81-71C8-4C3F-A005-F7484EA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CA37B-F98D-4825-B292-DEEFFDE5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Законная структура отличается самостоятельностью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2B573-E986-4225-9BA6-EFB82CA4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Если у каждой компании есть своя деловая логика, ресурсы и результат, это можно доказать документами и процессами.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D9340-9750-4F61-8620-55854D2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622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6EEC8-2C57-4EDB-9394-E4E86539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Самостоятельность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A5EE6-3F8E-4C27-970D-EF127A6D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Есть ли у каждой компании свой руководитель, своя зона решений и отдельный финансовый результат?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3166D-65F0-445E-83F8-CA952CA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3622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0389F-7F6E-4237-B355-67BAB882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Ресурсы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6B300-CBAE-4BE0-9DDD-CE6D23C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Подтверждены ли сотрудники, активы, договоры, расходы и операционная роль каждой единицы?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A7641-92A4-43C7-A74E-2C9CF21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23622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2B935-91CF-45C4-B532-B554DA1D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527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Деловая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6D32E-59DE-4E61-926E-8D0E995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Понятно ли, зачем структура создана кроме экономии налога?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DD83A-0836-4833-B744-D22B900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3622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55C86-9E51-4DE2-8C87-EB5CADCE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Документы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365FD-B187-4632-921B-6F62D3D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Можно ли без спешки собрать доказательства по контрагентам, расчетам и процессам?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8610D-91C2-440E-B6D1-6CA61BC9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1727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3EADB"/>
          </a:solidFill>
          <a:ln xmlns:a="http://schemas.openxmlformats.org/drawingml/2006/main" w="9525">
            <a:solidFill>
              <a:srgbClr val="F3EA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9494E-AE11-49FB-BD17-88EF719D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1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E72B2-F55F-4CC6-9ED7-08974001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Практический вывод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D4D22-46B9-4013-9301-00AE635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79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Проблема не в количестве компаний, а в отсутствии самостоятельности и деловой логики внутри группы.</a:t>
            </a:r>
          </a:p>
        </p:txBody>
      </p:sp>
    </p:spTree>
    <p:extLst>
      <p:ext uri="{BB962C8B-B14F-4D97-AF65-F5344CB8AC3E}">
        <p14:creationId xmlns:p14="http://schemas.microsoft.com/office/powerpoint/2010/main" val="1976404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CCD38-D36B-431B-9AA1-D1908F6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ТРУДОВЫЕ ОТНОШЕНИЯ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7C0C-266B-4845-8618-A3297FE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F3A67-A4E6-4B00-8873-89BFA54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C347-0AA7-43FF-B8B2-4A47BB9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Когда самозанятость начинает напоминать трудовые отношения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6C289-763D-43B4-813D-DF8047B5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Если исполнитель фактически живет по правилам работодателя, безопасный режим НПД превращается в риск.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40146-8C07-4721-A862-420CC3EC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172700" cy="31813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57C3C-51A8-4104-B27F-039E5E5B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801DD-9FA8-43A9-BB73-C42B0E6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На что смотрят в первую очередь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7780A-89AC-4E9A-B67C-3B17A584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97917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F8F4D-D222-4CB9-BF01-5548838A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F0626-E556-4780-A757-F467218E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F2A37"/>
                </a:solidFill>
              </a:defRPr>
            </a:pPr>
            <a:r>
              <a:rPr sz="1425">
                <a:solidFill>
                  <a:srgbClr val="1F2A37"/>
                </a:solidFill>
              </a:rPr>
              <a:t>исполнителя просят зарегистрироваться как плательщика НПД под конкретный контракт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65915-DC7B-4838-B85E-7D43209C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4426F-FF24-44ED-9396-BCE8A739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F2A37"/>
                </a:solidFill>
              </a:defRPr>
            </a:pPr>
            <a:r>
              <a:rPr sz="1425">
                <a:solidFill>
                  <a:srgbClr val="1F2A37"/>
                </a:solidFill>
              </a:rPr>
              <a:t>заказчик распределяет людей по объектам и маршрутам исходя из производственной необходимости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C9842-32A5-4F10-855E-A9B260E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2F706-E4E8-4E1E-8619-1BDCDE2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F2A37"/>
                </a:solidFill>
              </a:defRPr>
            </a:pPr>
            <a:r>
              <a:rPr sz="1425">
                <a:solidFill>
                  <a:srgbClr val="1F2A37"/>
                </a:solidFill>
              </a:rPr>
              <a:t>режим работы, смены и время отдыха фактически определяет заказчик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4C281-7145-4522-BFC7-C0FAD05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40863-30A9-492A-9842-DD60FAE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F2A37"/>
                </a:solidFill>
              </a:defRPr>
            </a:pPr>
            <a:r>
              <a:rPr sz="1425">
                <a:solidFill>
                  <a:srgbClr val="1F2A37"/>
                </a:solidFill>
              </a:rPr>
              <a:t>есть прямой контроль, руководство и встроенность в рабочий процесс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694CE-22F0-407C-86EC-C435C50A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A3C83-39C1-433C-ABF6-20FEB275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F2A37"/>
                </a:solidFill>
              </a:defRPr>
            </a:pPr>
            <a:r>
              <a:rPr sz="1425">
                <a:solidFill>
                  <a:srgbClr val="1F2A37"/>
                </a:solidFill>
              </a:rPr>
              <a:t>работа выполняется материалами, инструментами и на оборудовании заказчика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7E5CB-61E5-4998-8D69-816D3A9B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3A0C5-54F7-4E02-B736-FF991C9F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F2A37"/>
                </a:solidFill>
              </a:defRPr>
            </a:pPr>
            <a:r>
              <a:rPr sz="1425">
                <a:solidFill>
                  <a:srgbClr val="1F2A37"/>
                </a:solidFill>
              </a:rPr>
              <a:t>оплата организована по логике, похожей на зарплату по ТК РФ</a:t>
            </a:r>
          </a:p>
        </p:txBody>
      </p:sp>
    </p:spTree>
    <p:extLst>
      <p:ext uri="{BB962C8B-B14F-4D97-AF65-F5344CB8AC3E}">
        <p14:creationId xmlns:p14="http://schemas.microsoft.com/office/powerpoint/2010/main" val="9044986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0B2CE-777F-40FF-91DA-17E4B53A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ТРУДОВЫЕ ОТНОШЕНИЯ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CD342-E05E-4F34-94BA-8539C802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8B46E-822F-4DFF-907C-EC3921C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91577-A885-4498-810F-CA4402A8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A37"/>
                </a:solidFill>
              </a:defRPr>
            </a:pPr>
            <a:r>
              <a:rPr sz="2850" b="1">
                <a:solidFill>
                  <a:srgbClr val="1F2A37"/>
                </a:solidFill>
              </a:rPr>
              <a:t>Следы трудовых отношений обычно видны в обычных документах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291F9-5035-4BC8-98C1-581A5781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Даже если договор назвали гражданско-правовым, трудовая модель все равно оставляет следы в операционке.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B917C-5086-4D73-B177-8CBF98A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4315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D9D3C-6441-43C9-9F3A-A83D204C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Пропуска и журналы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51943-871A-455D-99BD-20B2A890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Оформленный пропуск, журнал прихода и ухода, постоянный доступ на территорию работодателя.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3D209-FDCB-4D03-9B59-CCDCF26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234315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554B-21E6-483E-A76D-A042C23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Кадровые документы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84184-3E2E-4FBF-B567-CCC794BA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Графики смен, отпуска, командировки, внутренние распоряжения и другие кадровые следы.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089E8-80F7-4A7D-9E54-FCFB71A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234315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3047B-AAA4-44D9-AC1F-5930D6E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33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Платежные документы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916BE-932B-4EC7-BE6F-5B30F09C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24200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Расчетные листы, ведомости, системные перечисления денег по модели заработной платы.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505D7-7CF2-4E44-9092-6348E490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343150" cy="21336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AB5F6-7B55-4482-A460-F82F4E02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Хозяйственная деятельность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30031-2604-473A-B946-02C5967F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Накладные, отчеты, подписи в документах, инструкции по охране труда, аудио и видео.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AEB81-0FF4-4A53-864E-5B6615DB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01250" cy="8191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9525">
            <a:solidFill>
              <a:srgbClr val="D9EC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C5605-EA7C-4908-9FFF-D9137B83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9B722-65E4-40DC-AF02-4CB8775A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A37"/>
                </a:solidFill>
              </a:defRPr>
            </a:pPr>
            <a:r>
              <a:rPr sz="1650" b="1">
                <a:solidFill>
                  <a:srgbClr val="1F2A37"/>
                </a:solidFill>
              </a:rPr>
              <a:t>Для собственника это значит одно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107DC-8A57-4FC8-BA5E-1F7BD6A5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6202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82"/>
                </a:solidFill>
              </a:defRPr>
            </a:pPr>
            <a:r>
              <a:rPr sz="1500">
                <a:solidFill>
                  <a:srgbClr val="657182"/>
                </a:solidFill>
              </a:rPr>
              <a:t>Проверять нужно не только договор, но и весь фактический способ организации работы.</a:t>
            </a:r>
          </a:p>
        </p:txBody>
      </p:sp>
    </p:spTree>
    <p:extLst>
      <p:ext uri="{BB962C8B-B14F-4D97-AF65-F5344CB8AC3E}">
        <p14:creationId xmlns:p14="http://schemas.microsoft.com/office/powerpoint/2010/main" val="21379976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AC44F-6569-4954-A2EF-7FC70307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EC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B75"/>
                </a:solidFill>
              </a:defRPr>
            </a:pPr>
            <a:r>
              <a:rPr sz="900" b="1">
                <a:solidFill>
                  <a:srgbClr val="1F6B75"/>
                </a:solidFill>
              </a:rPr>
              <a:t>ФИНАЛ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00D12-7761-41FA-8D05-D631D4F4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96FF9-67B7-4A7B-A5C2-02392FE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2"/>
                </a:solidFill>
              </a:defRPr>
            </a:pPr>
            <a:r>
              <a:rPr sz="1050" b="1">
                <a:solidFill>
                  <a:srgbClr val="657182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53B5D-F0CD-461C-BB84-D803E46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114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7D0B0-E49A-4035-A323-0286038F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A37"/>
                </a:solidFill>
              </a:defRPr>
            </a:pPr>
            <a:r>
              <a:rPr sz="3600" b="1">
                <a:solidFill>
                  <a:srgbClr val="1F2A37"/>
                </a:solidFill>
              </a:rPr>
              <a:t>Как проверить</a:t>
            </a:r>
          </a:p>
          <a:p xmlns:a="http://schemas.openxmlformats.org/drawingml/2006/main">
            <a:pPr>
              <a:defRPr sz="3600" b="1">
                <a:solidFill>
                  <a:srgbClr val="1F2A37"/>
                </a:solidFill>
              </a:defRPr>
            </a:pPr>
            <a:r>
              <a:rPr sz="3600" b="1">
                <a:solidFill>
                  <a:srgbClr val="1F2A37"/>
                </a:solidFill>
              </a:rPr>
              <a:t>бухгалтера?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16B4D-F0E9-47EE-8806-B6D73016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82"/>
                </a:solidFill>
              </a:defRPr>
            </a:pPr>
            <a:r>
              <a:rPr sz="1650">
                <a:solidFill>
                  <a:srgbClr val="657182"/>
                </a:solidFill>
              </a:rPr>
              <a:t>Проверять нужно не только сдачу отчетности, но и то, насколько бухгалтер понимает логику режима и его риски.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67EC0-7A10-49A3-95E9-6CDC01E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8669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BD2E0-F7AD-461E-B05B-5166F747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621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Выбор режима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228E3-3F38-46CA-8EE3-04282890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52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Понятно ли, почему выбран именно этот режим.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21216-0B07-4A45-B8EC-0A822980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8669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BEA32-A74F-421D-8E87-A39ADE5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Контроль лимитов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5E828-5DAD-4F13-8A70-E3D8648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Видит ли бухгалтер пороги и риски заранее.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E79CF-3FD4-4B7F-B30C-1BBBA24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8669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A0C3F-ECFA-4724-9D7A-A74C01A2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Документы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0A6C8-C2A7-4027-9B22-76B8F071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910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Можно ли быстро собрать доказательства по спорным зонам.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02DAB-8331-4014-A7DA-2C64B892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8669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A3C32-B60F-4A81-A2F5-50C1B5C1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A37"/>
                </a:solidFill>
              </a:defRPr>
            </a:pPr>
            <a:r>
              <a:rPr sz="1500" b="1">
                <a:solidFill>
                  <a:srgbClr val="1F2A37"/>
                </a:solidFill>
              </a:rPr>
              <a:t>Объяснение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30300-1BDC-4FF2-AF37-BD5A85E9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82"/>
                </a:solidFill>
              </a:defRPr>
            </a:pPr>
            <a:r>
              <a:rPr sz="1275">
                <a:solidFill>
                  <a:srgbClr val="657182"/>
                </a:solidFill>
              </a:rPr>
              <a:t>Может ли бухгалтер объяснить решение простым языком.</a:t>
            </a:r>
          </a:p>
        </p:txBody>
      </p:sp>
    </p:spTree>
    <p:extLst>
      <p:ext uri="{BB962C8B-B14F-4D97-AF65-F5344CB8AC3E}">
        <p14:creationId xmlns:p14="http://schemas.microsoft.com/office/powerpoint/2010/main" val="555818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2026-07-02T07:31:35.4150000Z</dcterms:created>
  <dcterms:modified xsi:type="dcterms:W3CDTF">2026-07-02T07:31:35.4150000Z</dcterms:modified>
</coreProperties>
</file>