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e2356058f349e7" /><Relationship Type="http://schemas.openxmlformats.org/officeDocument/2006/relationships/extended-properties" Target="/docProps/app.xml" Id="R5d8df9cc97ad4cbc" /><Relationship Type="http://schemas.openxmlformats.org/officeDocument/2006/relationships/officeDocument" Target="/ppt/presentation.xml" Id="R02ff4ebfe29b471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e0fd5f99af42c1"/>
  </p:sldMasterIdLst>
  <p:notesMasterIdLst>
    <p:notesMasterId xmlns:r="http://schemas.openxmlformats.org/officeDocument/2006/relationships" r:id="R9590b5788c7a4112"/>
  </p:notesMasterIdLst>
  <p:sldIdLst>
    <p:sldId xmlns:r="http://schemas.openxmlformats.org/officeDocument/2006/relationships" id="256" r:id="Rd9dddc35799747a5"/>
    <p:sldId xmlns:r="http://schemas.openxmlformats.org/officeDocument/2006/relationships" id="257" r:id="R81faac79b8a24f76"/>
    <p:sldId xmlns:r="http://schemas.openxmlformats.org/officeDocument/2006/relationships" id="258" r:id="R81fc46661856483e"/>
    <p:sldId xmlns:r="http://schemas.openxmlformats.org/officeDocument/2006/relationships" id="259" r:id="R4a203676e9514f7c"/>
    <p:sldId xmlns:r="http://schemas.openxmlformats.org/officeDocument/2006/relationships" id="260" r:id="R96b374a33e8c497b"/>
    <p:sldId xmlns:r="http://schemas.openxmlformats.org/officeDocument/2006/relationships" id="261" r:id="R920ca8f483274b6d"/>
    <p:sldId xmlns:r="http://schemas.openxmlformats.org/officeDocument/2006/relationships" id="262" r:id="Rf96e42363c194bda"/>
    <p:sldId xmlns:r="http://schemas.openxmlformats.org/officeDocument/2006/relationships" id="263" r:id="R952f4f3acf04439c"/>
    <p:sldId xmlns:r="http://schemas.openxmlformats.org/officeDocument/2006/relationships" id="264" r:id="Ref4a4a484e594865"/>
    <p:sldId xmlns:r="http://schemas.openxmlformats.org/officeDocument/2006/relationships" id="265" r:id="R987ae04dbaa34de8"/>
    <p:sldId xmlns:r="http://schemas.openxmlformats.org/officeDocument/2006/relationships" id="266" r:id="R0c2e510b46ee4f8c"/>
    <p:sldId xmlns:r="http://schemas.openxmlformats.org/officeDocument/2006/relationships" id="267" r:id="R58efa6517da9412e"/>
    <p:sldId xmlns:r="http://schemas.openxmlformats.org/officeDocument/2006/relationships" id="268" r:id="R798b5c502a934d6d"/>
    <p:sldId xmlns:r="http://schemas.openxmlformats.org/officeDocument/2006/relationships" id="269" r:id="Rbe1abd1416934ffc"/>
    <p:sldId xmlns:r="http://schemas.openxmlformats.org/officeDocument/2006/relationships" id="270" r:id="R44c66cdc27714867"/>
    <p:sldId xmlns:r="http://schemas.openxmlformats.org/officeDocument/2006/relationships" id="271" r:id="Rbd1ce0d9921e4fb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ee2a100c314168" /><Relationship Type="http://schemas.openxmlformats.org/officeDocument/2006/relationships/slideMaster" Target="/ppt/slideMasters/slideMaster1.xml" Id="Rd5e0fd5f99af42c1" /><Relationship Type="http://schemas.openxmlformats.org/officeDocument/2006/relationships/notesMaster" Target="/ppt/notesMasters/notesMaster1.xml" Id="R9590b5788c7a4112" /><Relationship Type="http://schemas.openxmlformats.org/officeDocument/2006/relationships/presProps" Target="/ppt/presProps.xml" Id="Rb1dac59de3e1475e" /><Relationship Type="http://schemas.openxmlformats.org/officeDocument/2006/relationships/tableStyles" Target="/ppt/tableStyles.xml" Id="Re3ae851327f64288" /><Relationship Type="http://schemas.openxmlformats.org/officeDocument/2006/relationships/slide" Target="/ppt/slides/slide1.xml" Id="Rd9dddc35799747a5" /><Relationship Type="http://schemas.openxmlformats.org/officeDocument/2006/relationships/slide" Target="/ppt/slides/slide2.xml" Id="R81faac79b8a24f76" /><Relationship Type="http://schemas.openxmlformats.org/officeDocument/2006/relationships/slide" Target="/ppt/slides/slide3.xml" Id="R81fc46661856483e" /><Relationship Type="http://schemas.openxmlformats.org/officeDocument/2006/relationships/slide" Target="/ppt/slides/slide4.xml" Id="R4a203676e9514f7c" /><Relationship Type="http://schemas.openxmlformats.org/officeDocument/2006/relationships/slide" Target="/ppt/slides/slide5.xml" Id="R96b374a33e8c497b" /><Relationship Type="http://schemas.openxmlformats.org/officeDocument/2006/relationships/slide" Target="/ppt/slides/slide6.xml" Id="R920ca8f483274b6d" /><Relationship Type="http://schemas.openxmlformats.org/officeDocument/2006/relationships/slide" Target="/ppt/slides/slide7.xml" Id="Rf96e42363c194bda" /><Relationship Type="http://schemas.openxmlformats.org/officeDocument/2006/relationships/slide" Target="/ppt/slides/slide8.xml" Id="R952f4f3acf04439c" /><Relationship Type="http://schemas.openxmlformats.org/officeDocument/2006/relationships/slide" Target="/ppt/slides/slide9.xml" Id="Ref4a4a484e594865" /><Relationship Type="http://schemas.openxmlformats.org/officeDocument/2006/relationships/slide" Target="/ppt/slides/slide10.xml" Id="R987ae04dbaa34de8" /><Relationship Type="http://schemas.openxmlformats.org/officeDocument/2006/relationships/slide" Target="/ppt/slides/slide11.xml" Id="R0c2e510b46ee4f8c" /><Relationship Type="http://schemas.openxmlformats.org/officeDocument/2006/relationships/slide" Target="/ppt/slides/slide12.xml" Id="R58efa6517da9412e" /><Relationship Type="http://schemas.openxmlformats.org/officeDocument/2006/relationships/slide" Target="/ppt/slides/slide13.xml" Id="R798b5c502a934d6d" /><Relationship Type="http://schemas.openxmlformats.org/officeDocument/2006/relationships/slide" Target="/ppt/slides/slide14.xml" Id="Rbe1abd1416934ffc" /><Relationship Type="http://schemas.openxmlformats.org/officeDocument/2006/relationships/slide" Target="/ppt/slides/slide15.xml" Id="R44c66cdc27714867" /><Relationship Type="http://schemas.openxmlformats.org/officeDocument/2006/relationships/slide" Target="/ppt/slides/slide16.xml" Id="Rbd1ce0d9921e4fb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5ad061da944f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d865810e214081" /><Relationship Type="http://schemas.openxmlformats.org/officeDocument/2006/relationships/notesMaster" Target="/ppt/notesMasters/notesMaster1.xml" Id="Rf3109a58bceb4b1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b286308836d4032" /><Relationship Type="http://schemas.openxmlformats.org/officeDocument/2006/relationships/notesMaster" Target="/ppt/notesMasters/notesMaster1.xml" Id="R2eb0f8f72c54478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d18b6e748094b01" /><Relationship Type="http://schemas.openxmlformats.org/officeDocument/2006/relationships/notesMaster" Target="/ppt/notesMasters/notesMaster1.xml" Id="Rbf253b90ea04432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4b7423d1d3445ca" /><Relationship Type="http://schemas.openxmlformats.org/officeDocument/2006/relationships/notesMaster" Target="/ppt/notesMasters/notesMaster1.xml" Id="R364b2d6962a54cd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0214987afd7491d" /><Relationship Type="http://schemas.openxmlformats.org/officeDocument/2006/relationships/notesMaster" Target="/ppt/notesMasters/notesMaster1.xml" Id="Rd00937de8f474c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4929be5f6704047" /><Relationship Type="http://schemas.openxmlformats.org/officeDocument/2006/relationships/notesMaster" Target="/ppt/notesMasters/notesMaster1.xml" Id="R5ee72561d43742e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e151f04f79f41ab" /><Relationship Type="http://schemas.openxmlformats.org/officeDocument/2006/relationships/notesMaster" Target="/ppt/notesMasters/notesMaster1.xml" Id="Rbd83679de53349b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1c8e59dfbe04e25" /><Relationship Type="http://schemas.openxmlformats.org/officeDocument/2006/relationships/notesMaster" Target="/ppt/notesMasters/notesMaster1.xml" Id="Rf30bec599dba4e3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d5db18e57e8462d" /><Relationship Type="http://schemas.openxmlformats.org/officeDocument/2006/relationships/notesMaster" Target="/ppt/notesMasters/notesMaster1.xml" Id="R34e89c277ddb459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2e43113de274ef3" /><Relationship Type="http://schemas.openxmlformats.org/officeDocument/2006/relationships/notesMaster" Target="/ppt/notesMasters/notesMaster1.xml" Id="Rc2cc5a5481ca455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a421af5b25c400c" /><Relationship Type="http://schemas.openxmlformats.org/officeDocument/2006/relationships/notesMaster" Target="/ppt/notesMasters/notesMaster1.xml" Id="Rd2117d6afb4f40d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fa81312ab184412" /><Relationship Type="http://schemas.openxmlformats.org/officeDocument/2006/relationships/notesMaster" Target="/ppt/notesMasters/notesMaster1.xml" Id="R13f43a359a4e434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482e6329fd840ca" /><Relationship Type="http://schemas.openxmlformats.org/officeDocument/2006/relationships/notesMaster" Target="/ppt/notesMasters/notesMaster1.xml" Id="R2af7fe6eef934d9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519966647494afa" /><Relationship Type="http://schemas.openxmlformats.org/officeDocument/2006/relationships/notesMaster" Target="/ppt/notesMasters/notesMaster1.xml" Id="Re2339cb11e2e425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da2e5210798403f" /><Relationship Type="http://schemas.openxmlformats.org/officeDocument/2006/relationships/notesMaster" Target="/ppt/notesMasters/notesMaster1.xml" Id="Rf4ac8b0711e8497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a0f1fd9a5f14d47" /><Relationship Type="http://schemas.openxmlformats.org/officeDocument/2006/relationships/notesMaster" Target="/ppt/notesMasters/notesMaster1.xml" Id="Re5cd2dff56a9490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57b537e5114b4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b6d3ffa74bb41e6" /><Relationship Type="http://schemas.openxmlformats.org/officeDocument/2006/relationships/slideLayout" Target="/ppt/slideLayouts/slideLayout1.xml" Id="R59a50e189bf044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a50e189bf044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865dd2a42a4069" /><Relationship Type="http://schemas.openxmlformats.org/officeDocument/2006/relationships/image" Target="/ppt/media/image.jpeg" Id="Rc33fb81344914b24" /><Relationship Type="http://schemas.openxmlformats.org/officeDocument/2006/relationships/notesSlide" Target="/ppt/notesSlides/notesSlide1.xml" Id="R88ba619d517741c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e62dafa04408e" /><Relationship Type="http://schemas.openxmlformats.org/officeDocument/2006/relationships/notesSlide" Target="/ppt/notesSlides/notesSlide2.xml" Id="Rd411345a78b4476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5893eb337a4b37" /><Relationship Type="http://schemas.openxmlformats.org/officeDocument/2006/relationships/notesSlide" Target="/ppt/notesSlides/notesSlide3.xml" Id="Rbefbb883fe8c47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e430870fc8454d" /><Relationship Type="http://schemas.openxmlformats.org/officeDocument/2006/relationships/notesSlide" Target="/ppt/notesSlides/notesSlide4.xml" Id="Rfd04f3390a2b459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3deec18554443d" /><Relationship Type="http://schemas.openxmlformats.org/officeDocument/2006/relationships/notesSlide" Target="/ppt/notesSlides/notesSlide5.xml" Id="R386a51da65374fa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291ea832524d78" /><Relationship Type="http://schemas.openxmlformats.org/officeDocument/2006/relationships/notesSlide" Target="/ppt/notesSlides/notesSlide6.xml" Id="Raed36abfa9944f2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9e68f46e8440cf" /><Relationship Type="http://schemas.openxmlformats.org/officeDocument/2006/relationships/notesSlide" Target="/ppt/notesSlides/notesSlide7.xml" Id="R423bb4ca4649410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e44dc634df46ff" /><Relationship Type="http://schemas.openxmlformats.org/officeDocument/2006/relationships/notesSlide" Target="/ppt/notesSlides/notesSlide8.xml" Id="R2317477365614c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e801e9d61a4f1a" /><Relationship Type="http://schemas.openxmlformats.org/officeDocument/2006/relationships/notesSlide" Target="/ppt/notesSlides/notesSlide9.xml" Id="Rc11775f14e9a4fa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466a39c2a240fb" /><Relationship Type="http://schemas.openxmlformats.org/officeDocument/2006/relationships/notesSlide" Target="/ppt/notesSlides/notesSlide10.xml" Id="R9ddd300e909c455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fb3b65e136445e" /><Relationship Type="http://schemas.openxmlformats.org/officeDocument/2006/relationships/notesSlide" Target="/ppt/notesSlides/notesSlide11.xml" Id="Rbe5b106c72284c5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1659f2adc94191" /><Relationship Type="http://schemas.openxmlformats.org/officeDocument/2006/relationships/notesSlide" Target="/ppt/notesSlides/notesSlide12.xml" Id="R91dd912d7f0b478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af1e10263d4ad0" /><Relationship Type="http://schemas.openxmlformats.org/officeDocument/2006/relationships/notesSlide" Target="/ppt/notesSlides/notesSlide13.xml" Id="Rb756cdc264e14c0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5782e23cb64de3" /><Relationship Type="http://schemas.openxmlformats.org/officeDocument/2006/relationships/notesSlide" Target="/ppt/notesSlides/notesSlide14.xml" Id="R195debb620954fa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6a0228c4b145ab" /><Relationship Type="http://schemas.openxmlformats.org/officeDocument/2006/relationships/notesSlide" Target="/ppt/notesSlides/notesSlide15.xml" Id="R7056c4b5fc3d43a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ab4dcb7c6443cc" /><Relationship Type="http://schemas.openxmlformats.org/officeDocument/2006/relationships/notesSlide" Target="/ppt/notesSlides/notesSlide16.xml" Id="R0bce5901fac3417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0660D3-3F54-427D-B8F9-C7561378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ЭКСПЕРТ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C3EDF-3E92-4C88-A3A1-7602B80E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EB60CF-D35B-40B7-9889-291625699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F0784F-05FA-428A-9042-9A5C0809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238250"/>
            <a:ext cx="3371850" cy="40957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3fb81344914b24"/>
          <a:srcRect xmlns:a="http://schemas.openxmlformats.org/drawingml/2006/main" l="0" t="10645" r="0" b="106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162050"/>
            <a:ext cx="3371850" cy="3981450"/>
          </a:xfrm>
          <a:prstGeom xmlns:a="http://schemas.openxmlformats.org/drawingml/2006/main" prst="roundRect">
            <a:avLst>
              <a:gd name="adj" fmla="val 6780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FB2D0A-DD46-4831-BC15-BEDD2DF47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238250"/>
            <a:ext cx="495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F2A37"/>
                </a:solidFill>
              </a:defRPr>
            </a:pPr>
            <a:r>
              <a:rPr sz="3150" b="1">
                <a:solidFill>
                  <a:srgbClr val="1F2A37"/>
                </a:solidFill>
              </a:rPr>
              <a:t>Екатерина Коптелова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9CB1C4-508B-47A4-801A-C6AF17034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907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6B75"/>
                </a:solidFill>
              </a:defRPr>
            </a:pPr>
            <a:r>
              <a:rPr sz="1650" b="1">
                <a:solidFill>
                  <a:srgbClr val="1F6B75"/>
                </a:solidFill>
              </a:rPr>
              <a:t>Финансы. Управленческий учет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58CC85-BEFB-4B37-8DD1-F652FC8CE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62200"/>
            <a:ext cx="590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F2A37"/>
                </a:solidFill>
              </a:defRPr>
            </a:pPr>
            <a:r>
              <a:rPr sz="1575">
                <a:solidFill>
                  <a:srgbClr val="1F2A37"/>
                </a:solidFill>
              </a:rPr>
              <a:t>Собственник и руководитель бухгалтерского аутсорсинга.</a:t>
            </a:r>
          </a:p>
          <a:p xmlns:a="http://schemas.openxmlformats.org/drawingml/2006/main">
            <a:pPr>
              <a:defRPr sz="1575">
                <a:solidFill>
                  <a:srgbClr val="1F2A37"/>
                </a:solidFill>
              </a:defRPr>
            </a:pPr>
            <a:r>
              <a:rPr sz="1575">
                <a:solidFill>
                  <a:srgbClr val="1F2A37"/>
                </a:solidFill>
              </a:rPr>
              <a:t>В профессии с 2007 года, работает с предпринимателями и компаниями на этапе роста и перестройки процессов.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E90D93-FFE6-4182-8F11-EE791FEE3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19500"/>
            <a:ext cx="59055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F0A7B0-2736-4368-B9A8-2C1E49365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7909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9F2CA0-CABA-4B10-A142-033349EF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829050"/>
            <a:ext cx="552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Фокус экспертизы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31A9A6-D37A-4C90-B450-EAAE1D1C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05300"/>
            <a:ext cx="552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Налоги, управленческий учет и практические решения для бизнеса в строительстве, образовании, торговле, производстве и инвестиционной деятельности.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750B02-632A-487B-AEA1-EC32CE531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372100"/>
            <a:ext cx="142875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F3EAD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99153"/>
                </a:solidFill>
              </a:defRPr>
            </a:pPr>
            <a:r>
              <a:rPr sz="1050" b="1">
                <a:solidFill>
                  <a:srgbClr val="B99153"/>
                </a:solidFill>
              </a:rPr>
              <a:t>Аутсорсинг учета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2FFB53-E46D-4232-8D10-62AE7B19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72100"/>
            <a:ext cx="120015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F3EAD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99153"/>
                </a:solidFill>
              </a:defRPr>
            </a:pPr>
            <a:r>
              <a:rPr sz="1050" b="1">
                <a:solidFill>
                  <a:srgbClr val="B99153"/>
                </a:solidFill>
              </a:rPr>
              <a:t>С 2007 года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51AF8E-E698-4289-A91B-A4FFCA04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372100"/>
            <a:ext cx="203835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F3EAD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99153"/>
                </a:solidFill>
              </a:defRPr>
            </a:pPr>
            <a:r>
              <a:rPr sz="1050" b="1">
                <a:solidFill>
                  <a:srgbClr val="B99153"/>
                </a:solidFill>
              </a:rPr>
              <a:t>Малый и средний бизнес</a:t>
            </a:r>
          </a:p>
        </p:txBody>
      </p:sp>
    </p:spTree>
    <p:extLst>
      <p:ext uri="{BB962C8B-B14F-4D97-AF65-F5344CB8AC3E}">
        <p14:creationId xmlns:p14="http://schemas.microsoft.com/office/powerpoint/2010/main" val="12597106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C5CA15-6009-46B3-8A2A-A1D6E55F2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ТЕМА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1CBCF0-BBCC-4F54-9EB0-DFEE38EC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32FD55-EC5B-419E-8E25-83CD2AD92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0FF4F-7CBD-4579-8997-37D4600A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10820400" cy="41910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006662-5D5F-4216-BC05-EDB2B6E3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3810000" cy="4191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F7B9A6-3BAB-4E8A-8B22-E7840F19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5905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F2A37"/>
                </a:solidFill>
              </a:defRPr>
            </a:pPr>
            <a:r>
              <a:rPr sz="3450" b="1">
                <a:solidFill>
                  <a:srgbClr val="1F2A37"/>
                </a:solidFill>
              </a:rPr>
              <a:t>Как понять, какая система налогообложения подходит бизнесу?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EAD16D-89EB-427A-9BCB-B91FEBAD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57182"/>
                </a:solidFill>
              </a:defRPr>
            </a:pPr>
            <a:r>
              <a:rPr sz="1650">
                <a:solidFill>
                  <a:srgbClr val="657182"/>
                </a:solidFill>
              </a:rPr>
              <a:t>Учебный маршрут: режимы, ошибки и сигналы риска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8CA3D3-B5D3-413B-AB2E-8D890A32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657350"/>
            <a:ext cx="1695450" cy="1238250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FE8A6B-19D7-4F62-9B8E-E50E3338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828800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Режим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AA1DB5-8C1B-41F0-86F8-9220C211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4193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какую систему и базу выбирают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DCC745-6FDF-4F22-9BAE-9EF5D2C4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657350"/>
            <a:ext cx="1695450" cy="1238250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8F0243-84AB-419F-9DE8-1E914AFE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828800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Ошибки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AE3C7E-E75F-4F97-A76B-2F6F8C46D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4193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где бизнес чаще ошибается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F0782C-E0A3-46CC-B889-3D8D5FDC9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86100"/>
            <a:ext cx="1695450" cy="1238250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1506FE-D200-4953-8FC2-C37983AB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257550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Сигналы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0C9609-5D61-45DF-BB29-060310D9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84810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что настораживает налоговую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181E4F-5F8A-4821-B882-14945439A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086100"/>
            <a:ext cx="1695450" cy="1238250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B647A7-5FA9-4EEB-9782-4B88416D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257550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Вывод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F3F462-58DD-43FB-B80E-C457DA4C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84810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что важно запомнить студенту</a:t>
            </a:r>
          </a:p>
        </p:txBody>
      </p:sp>
    </p:spTree>
    <p:extLst>
      <p:ext uri="{BB962C8B-B14F-4D97-AF65-F5344CB8AC3E}">
        <p14:creationId xmlns:p14="http://schemas.microsoft.com/office/powerpoint/2010/main" val="1529499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C20530-D519-4590-A82A-223FF8D7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ОБЗОР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1E8858-CD2D-455C-8D9B-70FE5F4C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443431-432D-48CA-BC19-4611D87E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EE6A57-EC4A-4C98-9A8F-628DE29B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Сначала важно увидеть всю карту налоговых режимов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6B1C4F-281A-45E0-B9A4-9E94D2A66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Ниже - шесть базовых вариантов по состоянию на 2026 год. Сначала запоминаем логику, потом цифры и ограничения.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D23AC-DF78-4BC1-85D7-6E575D82F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3352800" cy="1390650"/>
          </a:xfrm>
          <a:prstGeom xmlns:a="http://schemas.openxmlformats.org/drawingml/2006/main" prst="roundRect">
            <a:avLst>
              <a:gd name="adj" fmla="val 16438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27EEF2-6CBE-46FA-97E9-F624B338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574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E8EC9C-5DAD-47B2-86F7-4902AFDA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ОСНО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1E91CD-87EA-4D5A-A6B7-9BEB62550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2971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крупный бизнес,</a:t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работа с НДС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25% прибыль</a:t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22% НДС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5BA5E9-96DC-4591-99AF-61693906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86000"/>
            <a:ext cx="3352800" cy="1390650"/>
          </a:xfrm>
          <a:prstGeom xmlns:a="http://schemas.openxmlformats.org/drawingml/2006/main" prst="roundRect">
            <a:avLst>
              <a:gd name="adj" fmla="val 16438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72EB7F-94EE-413C-9EE7-03A55A8B3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102D83-60DB-41EB-8326-1C74B294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9555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УСН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C09D27-044F-4CAC-92E9-3C654459F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71800"/>
            <a:ext cx="2971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малый и средний</a:t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бизнес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6% или 15%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AC995C-50A1-4751-9015-9BEC1B38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86000"/>
            <a:ext cx="3352800" cy="1390650"/>
          </a:xfrm>
          <a:prstGeom xmlns:a="http://schemas.openxmlformats.org/drawingml/2006/main" prst="roundRect">
            <a:avLst>
              <a:gd name="adj" fmla="val 16438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9A326A-76AA-437A-86EA-10FB92197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574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F00AC9-F1D0-4447-A984-81274B95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9555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АУСН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06A8F3-9052-4B72-992E-1C412371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71800"/>
            <a:ext cx="2971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микробизнес в</a:t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эксперименте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8% или 20%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5E116B-E501-458A-9901-1739F839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3352800" cy="1390650"/>
          </a:xfrm>
          <a:prstGeom xmlns:a="http://schemas.openxmlformats.org/drawingml/2006/main" prst="roundRect">
            <a:avLst>
              <a:gd name="adj" fmla="val 16438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F72280-5483-4204-8489-A1ECCB0A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767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B90AFD-BC59-4A83-AA07-C97C8B6FE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ПСН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B84AEA-A1B2-4898-9F63-0FCF549E7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2971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только для ИП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стоимость патента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3175B5-FA1C-4FA6-9342-641D7713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352800" cy="1390650"/>
          </a:xfrm>
          <a:prstGeom xmlns:a="http://schemas.openxmlformats.org/drawingml/2006/main" prst="roundRect">
            <a:avLst>
              <a:gd name="adj" fmla="val 16438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67A933-506E-41CC-AF3B-BB536CDB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767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21ADEE-5B95-4CDD-A218-BC078A35E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1480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ЕСХН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229F23-98B1-465D-A280-AF9F6211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91050"/>
            <a:ext cx="2971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сельхозпроизводители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6% с базы</a:t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доходы минус расходы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55CF81-D84E-470B-81E7-CB2A46F32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05250"/>
            <a:ext cx="3352800" cy="1390650"/>
          </a:xfrm>
          <a:prstGeom xmlns:a="http://schemas.openxmlformats.org/drawingml/2006/main" prst="roundRect">
            <a:avLst>
              <a:gd name="adj" fmla="val 16438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C1B4BC-1F7E-4F10-9571-B533726CD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767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273560-DE88-4B64-BDE6-6E95CA4B9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1480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НПД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422405-0438-4023-8C0C-70A98C33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91050"/>
            <a:ext cx="2971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самозанятые</a:t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без работников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4% / 6%</a:t>
            </a:r>
          </a:p>
        </p:txBody>
      </p:sp>
    </p:spTree>
    <p:extLst>
      <p:ext uri="{BB962C8B-B14F-4D97-AF65-F5344CB8AC3E}">
        <p14:creationId xmlns:p14="http://schemas.microsoft.com/office/powerpoint/2010/main" val="20369153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121D7C-67DA-4DD7-B556-4F471536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РЕЖИМ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FCE8E6-6002-468B-909F-AA9E6F6D3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2A979-F2CB-4000-8153-5369C1A8A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0804DE-8887-4C82-B985-9813A83A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ОСНО - режим для бизнеса, которому важны масштаб и работа с НДС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5C2CE8-5AEE-4C69-AB46-307C41BBD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Главная мысль для студента: этот режим сложнее, но он нужен там, где важны крупные клиенты, вычеты по НДС и отсутствие лимитов.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39C6B5-1DCA-47B8-80A6-2E99E07A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0AA485-7D62-40B5-A74C-42F8F7FD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25%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0418DB-34F3-458A-AA28-39A700DD4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налог на прибыль для организаций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33FBF8-74A6-4CE0-8E85-649DDBA88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7BDD54-459B-45BB-809B-828AA7051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22%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1DBD70-2067-4797-BDF0-B8F9D771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основная ставка НДС в 2026 году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EB3222-75B1-4FB8-930E-2BADC1B6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81EE4C-03B6-4DA2-B739-165536838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без лимитов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E31F2C-1926-4C0C-A9FF-EA293574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по выручке и численности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89D3B1-C961-410F-AFF8-6641E791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0480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16C3C5-FA22-4615-ABB3-D58D3FD7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5E45B0-D818-48E2-A2F4-4237211E5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Когда режим уместен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B495D2-332D-4392-8CB3-EE8D5D11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2667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Когда бизнес работает с НДС, имеет существенные расходы и не хочет зависеть от лимитов спецрежимов.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2A034C-7129-48BE-94FD-DA56FB61D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333750"/>
            <a:ext cx="35433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82AE7A-F476-4ED7-BFF2-BBD0E8BC6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B6CE6F-D576-4449-9EC7-FDB421A76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4330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Плюсы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AE05A9-35C1-4232-92E8-82561627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019550"/>
            <a:ext cx="31623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2015EA-2FC5-4677-94C1-30F42577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17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B25A50-46B1-4419-8F25-E65AA1DC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957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нет лимитов по выручке и масштабу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FCDD95-7012-45D9-92ED-689ED049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95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2D218F-FE4A-4718-95BA-26408082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41960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понятен крупным контрагентам и тендерам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B0413A-3ADA-455F-906D-4A0587F9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B35D3C-83B1-4701-86C0-9BA77B3C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434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дает полноценную работу с НДС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742129-578D-48C8-B09F-09CACB0E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209800"/>
            <a:ext cx="3810000" cy="3562350"/>
          </a:xfrm>
          <a:prstGeom xmlns:a="http://schemas.openxmlformats.org/drawingml/2006/main" prst="roundRect">
            <a:avLst>
              <a:gd name="adj" fmla="val 6417"/>
            </a:avLst>
          </a:prstGeom>
          <a:solidFill xmlns:a="http://schemas.openxmlformats.org/drawingml/2006/main">
            <a:srgbClr val="F3EADB"/>
          </a:solidFill>
          <a:ln xmlns:a="http://schemas.openxmlformats.org/drawingml/2006/main" w="9525">
            <a:solidFill>
              <a:srgbClr val="F3EAD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75AD5D-5F2C-4DCC-87ED-CE724F63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812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DC07EB-FBD9-4BDF-8E05-17D7BEB85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193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Триггерные точки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F6A264-E1C8-4F7B-8333-F15E1B18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95600"/>
            <a:ext cx="34290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F6C13F6-DCB4-4320-83EB-1A28C542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6F35CB-7B5A-4436-8CA4-B5CF047A5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718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учет и расчеты сложнее спецрежимов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2F294E-0BC9-4323-94B1-5F737ABB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F273B32-1D2E-49D9-B4E1-6E3C975C6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для ИП добавляется НДФЛ по прогрессивной шкале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8CD47A-385E-4CB5-836A-13325A7BA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17968BC-441E-4C65-ABEE-124C9603D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195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ошибки по НДС и прибыли быстро ведут к доначислениям</a:t>
            </a:r>
          </a:p>
        </p:txBody>
      </p:sp>
    </p:spTree>
    <p:extLst>
      <p:ext uri="{BB962C8B-B14F-4D97-AF65-F5344CB8AC3E}">
        <p14:creationId xmlns:p14="http://schemas.microsoft.com/office/powerpoint/2010/main" val="20352696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48370B-630E-4EB1-B656-0D35698B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РЕЖИМ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3EF5AA-7848-49CA-B868-5D8FB8CD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47E7C0-74F3-4817-9661-6D0FA593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3741F-44E9-444D-B8A7-17F6E003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УСН - самый частый стартовый режим для малого и среднего бизнеса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4FE32B-4D26-468C-96A9-4D3448C8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Главная учебная мысль: внутри УСН важно понять разницу между объектом «доходы» и «доходы минус расходы».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E5FEAA-6A73-4D76-B424-319A3FBF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A62715-BEB8-46BF-A2AA-74AE3B606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6%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CC2173-89F4-470A-A98E-D1BB3242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объект «доходы»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B31934-5A71-424D-9B8B-082366D3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43C52A-6B52-4626-96DB-428AAD51E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15%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15BA53-CAE9-4CD6-9160-B1191CD31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объект «доходы минус расходы»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B1223E-033E-4B30-939C-40E5FCE1C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8B6BBC-698C-412B-BCE0-A0B94F58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490,5 млн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84390F-6109-431A-95B2-89F15168A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лимит дохода на 2026 год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1DE085-A21D-4C1E-AA86-D7A74AAA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0480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C6AF74-1764-4E3B-8E6D-45470436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4FEC7A-39ED-4CB6-A7C5-00D976B6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Когда режим уместен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F72364-5945-4581-ABCE-0E8CFEE4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2667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Когда бизнесу нужны понятные правила, более простой учет и нет необходимости постоянно работать в логике ОСНО.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429C0C-1118-4744-8BC9-EE73501F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333750"/>
            <a:ext cx="35433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751E65-C051-48A3-A2B0-17438A45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40A663-67D9-4259-8D32-AE54124B4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4330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Плюсы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2B93B4-B545-4501-AEB9-3F8DE8B6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019550"/>
            <a:ext cx="31623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28AA97-5DE5-4212-B844-B191B1785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17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F44A53-973F-41B2-A627-2ED10A35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957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простая логика расчета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6D1378-90BB-40EB-9AAF-DE0993C9F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95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B8CB6B-2A4D-4B22-8CDB-7E0AEC83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41960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меньше административной нагрузки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DF3257-F9C9-4EA5-8681-604D00334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664793-2A9E-430B-8F2A-E8064475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434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можно выбрать объект под экономику бизнеса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0720A4-D300-4019-933A-C9191A1A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209800"/>
            <a:ext cx="3810000" cy="3562350"/>
          </a:xfrm>
          <a:prstGeom xmlns:a="http://schemas.openxmlformats.org/drawingml/2006/main" prst="roundRect">
            <a:avLst>
              <a:gd name="adj" fmla="val 6417"/>
            </a:avLst>
          </a:prstGeom>
          <a:solidFill xmlns:a="http://schemas.openxmlformats.org/drawingml/2006/main">
            <a:srgbClr val="F3EADB"/>
          </a:solidFill>
          <a:ln xmlns:a="http://schemas.openxmlformats.org/drawingml/2006/main" w="9525">
            <a:solidFill>
              <a:srgbClr val="F3EAD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8B8D77-1D2A-4A38-BDD8-5D1DD8C0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812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22D4F80-F2CF-4233-988A-58462F8B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193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Триггерные точки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1CF97F-566C-4CE7-A4C8-718A60C3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95600"/>
            <a:ext cx="34290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741F7D-A2B6-4392-B59A-84E0016A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7C8FD5-3CD7-401A-B6ED-1EFDDB33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718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лимиты по выручке, активам и численности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7DBF6AC-1269-42C3-8CA9-D6E013DF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37206F-7CFB-4278-8B67-2175E3AF1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не всем клиентам удобна работа вне модели ОСНО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362DEFF-B602-4709-85D5-718E8EDE0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12F5CF9-FCF2-4624-A478-F7A0335F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195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неверный выбор объекта быстро снижает прибыль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DBC3E2-F507-405F-B709-037DCC48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57182"/>
                </a:solidFill>
              </a:defRPr>
            </a:pPr>
            <a:r>
              <a:rPr sz="1050">
                <a:solidFill>
                  <a:srgbClr val="657182"/>
                </a:solidFill>
              </a:rPr>
              <a:t>Численность работников: до 130 человек. Освобождение от НДС в 2026 году зависит от порога выручки и специальных правил периода.</a:t>
            </a:r>
          </a:p>
        </p:txBody>
      </p:sp>
    </p:spTree>
    <p:extLst>
      <p:ext uri="{BB962C8B-B14F-4D97-AF65-F5344CB8AC3E}">
        <p14:creationId xmlns:p14="http://schemas.microsoft.com/office/powerpoint/2010/main" val="19405905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06B4BF-C18D-4828-AD10-59ECCB1F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РЕЖИМ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0CA799-2803-4B13-8936-A19658C05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BE7D75-9B66-4355-8B72-B962C88DD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B630AD-8196-4DE5-99C3-F0F1FBC7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АУСН показывает, как выглядит почти полностью автоматизированный спецрежим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A58B73-EF9B-4C3F-9677-20434358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Студенту важно понять: режим удобный по отчетности, но доступен только очень ограниченному кругу бизнеса.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829BF7-E679-421C-A4AD-977CC55C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09ADC6-6AAD-4479-8276-0893C45D8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8%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0467DC-1D22-4B39-938A-22172149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объект «доходы»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89610F-04AE-4B45-9520-D98F39FA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803205-C6FA-4DC4-AE4A-ABD089E23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20%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9EE50E-4DDE-4A96-B504-07F0C2CDF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объект «доходы минус расходы»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559435-E03C-48F7-9C39-82115EE4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CAA1D7-3D78-4A0B-A96A-A0CC9916B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60 млн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CC22A1-976E-4279-968E-DFDC006AF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годовой доход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53C748-D25B-4C7B-9004-0C6D4986E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0480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DF5E2B-BBA7-4017-9CA4-9A632BB0D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49D57B-BBAF-4CE0-9542-0291EC2B7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Когда режим уместен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020BF1-79B5-46B0-A402-996CAECFE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2667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Когда бизнес очень компактный, а главный запрос - снизить объем ручного учета и отчетности.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90DC7F-BBA3-4FC4-B1E2-4F937CC8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333750"/>
            <a:ext cx="35433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657FA9-4D96-416B-8867-503D5F8D3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96A15D-DE0F-4793-A548-5C326D1A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4330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Плюсы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1F3743-94BC-4884-A20A-76E9D7811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019550"/>
            <a:ext cx="31623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5772CA-2C52-4085-93EF-8A1449E1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17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51DFF7-0C1C-4BF2-AB78-1630BA29F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957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почти нет обычной отчетности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5BD920-E259-4A43-B211-5C9B7835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95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EC6013-2F68-46AE-8E86-6E3B95D5C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41960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налог считает инспекция по данным системы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80CC5F-1212-4C2D-898B-580548F5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BBD520-40F0-4820-B8A3-AE98DB33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434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удобен для небольших оборотов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9C7484-C0E4-4DA1-9C9B-FC64F452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209800"/>
            <a:ext cx="3810000" cy="3562350"/>
          </a:xfrm>
          <a:prstGeom xmlns:a="http://schemas.openxmlformats.org/drawingml/2006/main" prst="roundRect">
            <a:avLst>
              <a:gd name="adj" fmla="val 6417"/>
            </a:avLst>
          </a:prstGeom>
          <a:solidFill xmlns:a="http://schemas.openxmlformats.org/drawingml/2006/main">
            <a:srgbClr val="F3EADB"/>
          </a:solidFill>
          <a:ln xmlns:a="http://schemas.openxmlformats.org/drawingml/2006/main" w="9525">
            <a:solidFill>
              <a:srgbClr val="F3EAD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3ACF37-1F14-495F-8423-986B0B332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812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A754D40-8BA0-4300-BA5F-5B62EE9EA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193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Триггерные точки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A4E796-F844-4BA8-AE9E-D4177B7C0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95600"/>
            <a:ext cx="34290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EFAE88-0837-4621-8185-CE2BBD26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752644-02DB-45AE-B041-41C40EDF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718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не более 5 работников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FDC95D-D8D2-42D5-BC46-A4DE540EA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A6A777F-7293-4D6F-BD40-07F673317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только определенная инфраструктура банков и расчетов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C451A7-E29B-4A74-BB48-EC87433F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2FD7DC5-803D-4D51-823D-493921F0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195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режим пока действует в рамках эксперимента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C08AB7-2EAB-45A6-B8AE-6F9E9F2AC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57182"/>
                </a:solidFill>
              </a:defRPr>
            </a:pPr>
            <a:r>
              <a:rPr sz="1050">
                <a:solidFill>
                  <a:srgbClr val="657182"/>
                </a:solidFill>
              </a:rPr>
              <a:t>Дополнительно: остаточная стоимость ОС у организации - до 150 млн руб.; совмещение с иными спецрежимами не допускается.</a:t>
            </a:r>
          </a:p>
        </p:txBody>
      </p:sp>
    </p:spTree>
    <p:extLst>
      <p:ext uri="{BB962C8B-B14F-4D97-AF65-F5344CB8AC3E}">
        <p14:creationId xmlns:p14="http://schemas.microsoft.com/office/powerpoint/2010/main" val="12967072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B2BA70-3DA6-42A4-8927-87C56E10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РЕЖИМ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EA336F-7B1D-4877-86E7-C2BABCBA7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EEB138-AB22-4DCD-83F1-AEBDDF45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010B01-0CB8-4F1D-AEC4-95A600A2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ПСН полезна, когда предпринимателю важна заранее понятная сумма налога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8A0758-0049-4BC2-BC67-A1B8213B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Для студента важно запомнить: режим только для ИП, зависит от вида деятельности и от региона.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C560DA-1AA4-482A-B36F-2C430D29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C22D37-3D0A-4424-8BD7-430EE1F7A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только ИП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94975D-8743-4A80-A552-009DF775F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кто может применять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7CF767-D360-41D6-9DAC-ADF897EF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E0F8AF-3390-439A-8281-D42AEB455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20 млн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D7B424-1596-47EE-B56F-94839BC9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лимит дохода в 2026 году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6C35DA-36C9-4852-A99F-C33BF71E8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D3C1C6-8719-46FF-B78A-CFEACD6A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фиксировано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6AA55C-7ED9-4CB3-A0CE-083223699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налог - стоимость патента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36C195-2BC0-41CA-9AD9-06FFB495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0480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2D1C06-D7B7-4DCE-93E9-723DE637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6B0EDF-3864-47A4-9D3C-CF98DBE3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Когда режим уместен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B6973B-F77F-46E3-B87E-32A730F4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2667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Когда доход по деятельности прогнозируем, а предпринимателю нужна простая и предсказуемая модель.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54D478-8202-4955-BFBC-68ABE94D6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333750"/>
            <a:ext cx="35433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AD9268-2398-47ED-9C90-ECAC5CDC7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066B6C-D243-4F92-BB3A-7B30F80C7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4330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Плюсы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4C836F-C857-43F2-8157-F448A609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019550"/>
            <a:ext cx="31623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65CD5A-EE49-4767-954B-9AC1E95A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17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72FB32-C307-4FF0-89FF-9330B2FF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957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заранее понятна стоимость налога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6A030F-0B49-4F2D-B2B0-966DA6EA7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95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E3AEDC-2C90-44DC-AE25-4593318C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41960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не нужно считать налог с каждой операции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830015-6D92-43D2-8CD9-E831AB14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C42ABE-ADC5-4FA5-A279-416D573FB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434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можно брать патент на нужный период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D3EA7A-1A8E-4C2C-B27E-F029EDA8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209800"/>
            <a:ext cx="3810000" cy="3562350"/>
          </a:xfrm>
          <a:prstGeom xmlns:a="http://schemas.openxmlformats.org/drawingml/2006/main" prst="roundRect">
            <a:avLst>
              <a:gd name="adj" fmla="val 6417"/>
            </a:avLst>
          </a:prstGeom>
          <a:solidFill xmlns:a="http://schemas.openxmlformats.org/drawingml/2006/main">
            <a:srgbClr val="F3EADB"/>
          </a:solidFill>
          <a:ln xmlns:a="http://schemas.openxmlformats.org/drawingml/2006/main" w="9525">
            <a:solidFill>
              <a:srgbClr val="F3EAD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469F5A-CF0B-4221-9B7A-6171AF40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812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231B4D-CF8E-4B63-99D6-E24D5D01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193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Триггерные точки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EE2CB9-FD4F-400D-AF84-59685CCE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95600"/>
            <a:ext cx="34290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061BF0-0665-4742-B29C-71E51320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CD2118-C379-4561-A93A-74C99D67E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718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патент не дешевеет, если доход оказался ниже ожиданий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D6FA9CE-055E-40D3-868A-51F308DB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877FD67-DA0C-4106-94F3-D684C6A6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в 2026 году действует лимит дохода 20 млн руб.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632B2A9-D7B7-4385-976F-1F131DB30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2DD3BF6-9CFE-4BAB-A17D-89E21ECE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195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при совмещении режимов нужен раздельный учет</a:t>
            </a:r>
          </a:p>
        </p:txBody>
      </p:sp>
    </p:spTree>
    <p:extLst>
      <p:ext uri="{BB962C8B-B14F-4D97-AF65-F5344CB8AC3E}">
        <p14:creationId xmlns:p14="http://schemas.microsoft.com/office/powerpoint/2010/main" val="18745709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A9697C-6004-49AB-881A-EFB4C1D3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РЕЖИМ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199745-0109-47D6-B9D0-B9FA5B536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82481E-EEAB-4433-B759-814A66FC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022745-C3BF-4449-8F24-4C0AB51D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ЕСХН нужен тем, кто действительно работает как сельхозпроизводитель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0C100D-6C03-441C-ACFC-2F37D32EB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Важно не перепутать отрасль и право на режим: не каждая компания в агросфере может применять ЕСХН.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D9D88B-CFFE-442A-A370-0F130748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151222-C9BB-48AD-80C4-528F5267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6%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C524F0-F9B0-4CD7-BBF3-A0C511F9B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базовая ставка налога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3FE502-3864-40C5-8981-60D31FA6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083BC3-8FE8-4CBF-95DB-81F697906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доходы - расходы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1E8FAC-363D-4632-B75B-805463F8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налоговая база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203CBC-8B6F-4734-89A9-4A2BF241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612E3A-F74F-4679-9976-A94DED14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70%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8A8351-EB14-4539-A176-9E5D3318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минимальная доля профильного дохода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630605-3034-4BD2-9BAE-9169D08A4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0480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D27B02-1CEE-4FDF-8AA8-3255A0F81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F26320-A4EE-4D43-ACC2-7AAAB6D8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Когда режим уместен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0420EB-CEA1-4592-BCFA-9B0CFB4BD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2667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Когда компания или ИП действительно получают основной доход от сельхоздеятельности и проходят отраслевые критерии.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D84D9E-D820-40C0-AEF3-126A565A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333750"/>
            <a:ext cx="35433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15231A-CC69-45CC-8876-9FC73BC32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81CBFF-9557-4F5F-8F58-B4AF24FBC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4330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Плюсы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F7985D-3D50-4EF9-A8AF-1071B3248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019550"/>
            <a:ext cx="31623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A17895-D6BF-458D-9A56-A44ACAC8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17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3C44E5-FB40-44EE-8DAF-E1B1423B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957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низкая ставка по отношению к базе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7BAF29-8120-4DF9-BF98-9740B8932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95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3BD7BD-8CC8-4A03-BABF-13D295CF4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41960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специально заточен под отрасль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F67001-934B-451F-8226-1E83CF66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BEB737-B7C8-4D10-B559-841D0BC1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434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подходит для сезонной структуры расходов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A479E7-9974-4FEE-B88B-B126B5CD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209800"/>
            <a:ext cx="3810000" cy="3562350"/>
          </a:xfrm>
          <a:prstGeom xmlns:a="http://schemas.openxmlformats.org/drawingml/2006/main" prst="roundRect">
            <a:avLst>
              <a:gd name="adj" fmla="val 6417"/>
            </a:avLst>
          </a:prstGeom>
          <a:solidFill xmlns:a="http://schemas.openxmlformats.org/drawingml/2006/main">
            <a:srgbClr val="F3EADB"/>
          </a:solidFill>
          <a:ln xmlns:a="http://schemas.openxmlformats.org/drawingml/2006/main" w="9525">
            <a:solidFill>
              <a:srgbClr val="F3EAD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63F869-2F6D-4E33-9B3D-D01B4A304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812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6DAAF4-ABA0-4A23-A099-269287E3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193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Триггерные точки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1563FF2-C9F2-4495-B646-D1C99C8AB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95600"/>
            <a:ext cx="34290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55F45B-06C0-4F76-BD13-DA423EA0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A6EE55-BFC5-4EDC-AB77-C5DC23B1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718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нужно подтверждать отраслевой статус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F04283-C111-4140-84E8-948FBA339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616C7F4-8DC8-43D9-B008-DF715DA7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нарушение доли профильного дохода лишает права на режим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E55073-7CF3-4587-A42A-02BC27878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99BE425-64A3-466E-9C7C-A607999C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195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вопросы по НДС и региональным правилам нужно проверять отдельно</a:t>
            </a:r>
          </a:p>
        </p:txBody>
      </p:sp>
    </p:spTree>
    <p:extLst>
      <p:ext uri="{BB962C8B-B14F-4D97-AF65-F5344CB8AC3E}">
        <p14:creationId xmlns:p14="http://schemas.microsoft.com/office/powerpoint/2010/main" val="1755857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C1D191-4DE1-4094-84E9-83167A0A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РЕЖИМ 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D21B00-1288-4B2F-A078-410FC193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BB4EBB-95EF-4679-983C-CEB2C235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3BD790-0FD0-42DB-AC96-C29FEFC8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НПД подходит только там, где человек действительно работает на себя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877AFB-4406-426D-9B52-325D6DC8F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Это один из самых важных режимов для студента: он простой, но именно его чаще всего пытаются использовать неправильно.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C9C45C-D129-4C9D-9271-AAA57C9B0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6E8669-11A7-48A4-91B2-920B69AF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4%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D38DEF-154F-4338-91D3-34787D95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доход от физлиц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E1C936-ECF1-4EE8-88AB-FBD73C98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7FEA7C-B545-4350-B176-A3CD4AEB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6%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4DFD4A-FF37-4EF1-98EC-1AF24136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доход от юрлиц и ИП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C13CC6-1B81-474F-9A4A-11BB7D55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09800"/>
            <a:ext cx="1524000" cy="87630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C62A49-37D1-447F-B1D5-9B6974CF6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62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6B75"/>
                </a:solidFill>
              </a:defRPr>
            </a:pPr>
            <a:r>
              <a:rPr sz="2100" b="1">
                <a:solidFill>
                  <a:srgbClr val="1F6B75"/>
                </a:solidFill>
              </a:rPr>
              <a:t>2,4 млн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070FB8-888A-44B8-9BE3-50CDDF053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762250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57182"/>
                </a:solidFill>
              </a:defRPr>
            </a:pPr>
            <a:r>
              <a:rPr sz="1125">
                <a:solidFill>
                  <a:srgbClr val="657182"/>
                </a:solidFill>
              </a:rPr>
              <a:t>лимит дохода в год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9AAA0E-04F4-4F32-A2A9-C298EDFA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0480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0A55C7-1898-4469-81C2-CA8363A6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47DAFA-E828-4B82-9467-FF62DA3F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Когда режим уместен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5267E3-F9AD-4175-A54F-020CE3D7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2667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57182"/>
                </a:solidFill>
              </a:defRPr>
            </a:pPr>
            <a:r>
              <a:rPr sz="1350">
                <a:solidFill>
                  <a:srgbClr val="657182"/>
                </a:solidFill>
              </a:rPr>
              <a:t>Когда человек работает без сотрудников, сам управляет своим временем и не встроен в чужую штатную функцию.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35BEC4-8439-4D45-9D00-895D0B543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333750"/>
            <a:ext cx="3543300" cy="2438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D2213C-013E-4735-A8FC-1CBCB2BF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052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23A26D-BF5F-4CF8-830F-EDDB9D47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4330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Плюсы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734F49-7B3C-4A57-8DE7-A9CC9EF4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019550"/>
            <a:ext cx="31623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F56020-F33C-4990-9533-92F128FE2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17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72B741-AF55-4957-BE8B-1A25190D4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957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простая регистрация и нет отчетности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8FC29F-C7C1-4ADF-8400-BBA07C6F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95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345679-EE66-410F-9903-F05D3EBA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41960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низкие ставки и автоматический расчет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5ADDB7-473E-4346-AEB3-F9211A59E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2C8D06-65C5-4589-B0B1-06822FC8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434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удобен для частной практики и небольших услуг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F1741F-96E5-4C6C-B26C-8502A8AF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209800"/>
            <a:ext cx="3810000" cy="3562350"/>
          </a:xfrm>
          <a:prstGeom xmlns:a="http://schemas.openxmlformats.org/drawingml/2006/main" prst="roundRect">
            <a:avLst>
              <a:gd name="adj" fmla="val 6417"/>
            </a:avLst>
          </a:prstGeom>
          <a:solidFill xmlns:a="http://schemas.openxmlformats.org/drawingml/2006/main">
            <a:srgbClr val="F3EADB"/>
          </a:solidFill>
          <a:ln xmlns:a="http://schemas.openxmlformats.org/drawingml/2006/main" w="9525">
            <a:solidFill>
              <a:srgbClr val="F3EAD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9E4EF9-BE7A-49FF-AB19-86DB66B5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812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841710-AF46-4B58-ADA7-792ED89E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193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Триггерные точки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0D9EA2-05E0-40ED-8B78-8CE13BF0F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95600"/>
            <a:ext cx="34290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E74725C-0E25-48D3-B98C-E400E677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F0AA83-458E-4247-BC98-E58C97AE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718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превышение лимита лишает права на режим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5B4ABA-9977-435A-9AA4-09A8F5B89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D45215F-85D4-4644-8DEF-A52C9EB6A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режим нельзя использовать вместо штатной функции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623E255-CE69-4D35-BDB4-C3B416D78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89DFC3-0810-4619-B810-6FFEAB15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19500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нанимать работников для деятельности на НПД нельзя</a:t>
            </a:r>
          </a:p>
        </p:txBody>
      </p:sp>
    </p:spTree>
    <p:extLst>
      <p:ext uri="{BB962C8B-B14F-4D97-AF65-F5344CB8AC3E}">
        <p14:creationId xmlns:p14="http://schemas.microsoft.com/office/powerpoint/2010/main" val="18526898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1F5362-55CD-4928-9F43-110B178E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ВЫБОР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EF4F65-6572-4C4F-8287-437439FF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A132F1-DE15-4C51-8730-0420DDC8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15BFD6-96F4-4C24-96DC-66AF5D62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Как студенту запомнить логику выбора режима?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F45B74-4BE8-492E-BED3-9D417D3F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В реальном бизнесе режим выбирают не по одной ставке, а по сочетанию выручки, расходов, клиентов и планов роста.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36ECB0-1892-4030-8437-8BF6EC26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2400300" cy="1466850"/>
          </a:xfrm>
          <a:prstGeom xmlns:a="http://schemas.openxmlformats.org/drawingml/2006/main" prst="roundRect">
            <a:avLst>
              <a:gd name="adj" fmla="val 1558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8746B5-7122-47A5-911D-BD9F2E63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57450"/>
            <a:ext cx="2057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Какой будет оборот?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E5B075-AA57-479D-A79F-713119A85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2057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Лимиты по выручке сразу отсеивают часть спецрежимов.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C3FFC9-E87D-4784-9EF8-2BD8F5AA8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86000"/>
            <a:ext cx="2400300" cy="1466850"/>
          </a:xfrm>
          <a:prstGeom xmlns:a="http://schemas.openxmlformats.org/drawingml/2006/main" prst="roundRect">
            <a:avLst>
              <a:gd name="adj" fmla="val 1558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B60EBD-AE69-482E-B14E-BBA923B2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57450"/>
            <a:ext cx="2057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Какие будут расходы?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30BF91-E32E-41AA-B56B-936EA02F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48000"/>
            <a:ext cx="2057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Если расходы большие, важен выбор базы: с доходов или с разницы.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87443E-BCB3-45BF-A13A-29669B07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286000"/>
            <a:ext cx="2400300" cy="1466850"/>
          </a:xfrm>
          <a:prstGeom xmlns:a="http://schemas.openxmlformats.org/drawingml/2006/main" prst="roundRect">
            <a:avLst>
              <a:gd name="adj" fmla="val 1558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94FCB8-F264-49F2-9CDC-28CF6655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457450"/>
            <a:ext cx="2057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Кто клиенты?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A11E9B-C6FF-434F-A81F-AD7B58E7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48000"/>
            <a:ext cx="2057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Крупные заказчики часто ждут понятную модель работы с НДС.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14E90F-2F69-44B6-9071-B7A41CBC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86000"/>
            <a:ext cx="2400300" cy="1466850"/>
          </a:xfrm>
          <a:prstGeom xmlns:a="http://schemas.openxmlformats.org/drawingml/2006/main" prst="roundRect">
            <a:avLst>
              <a:gd name="adj" fmla="val 1558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797DD6-E5E8-4BCC-8AC9-2A1E4634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457450"/>
            <a:ext cx="2057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Как бизнес будет расти?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13A627-0150-4FA5-BADB-2B1E2985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48000"/>
            <a:ext cx="2057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Штат и новые направления могут быстро изменить выбор режима.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ABF193-AFB1-48C5-BBE9-936EE705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10172700" cy="133350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9525">
            <a:solidFill>
              <a:srgbClr val="D9EC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D880E1-B16F-4C4F-B9BD-701B4F7F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481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1D1097-B859-4B06-B6C6-640DE305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86250"/>
            <a:ext cx="9791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Главный учебный вывод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AF8C39-676D-47F4-9B70-B10B0226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979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Режим выбирают не по самой красивой цифре, а по тому, как реально устроен бизнес и какие налоговые риски он несет.</a:t>
            </a:r>
          </a:p>
        </p:txBody>
      </p:sp>
    </p:spTree>
    <p:extLst>
      <p:ext uri="{BB962C8B-B14F-4D97-AF65-F5344CB8AC3E}">
        <p14:creationId xmlns:p14="http://schemas.microsoft.com/office/powerpoint/2010/main" val="188847997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03415A-92C0-4B5A-B4FA-36687BF15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РИСКИ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3743BC-2304-47CA-ACD7-6270435F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6F9807-F321-45E7-A1C6-A1D14D85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F6C493-177D-4E4F-B323-83D5D322C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Где чаще всего начинаются ошибки по режимам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7ECDF5-9C67-4523-A709-162778E8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Триггерная точка - это место, где удобный режим превращается в риск доначислений и спора с налоговой.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6C7373-69AD-4ECE-98AB-5D5AC27F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3276600" cy="26670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2DFEEF-0214-47C2-BB26-6E4DAA508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574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561075-E93F-46EE-B8D8-8164F485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289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ОСНО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2E0545-0D36-49D1-8B79-982961A3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28956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FF0A36-2A99-4520-94FC-A10CD4F3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D4FF50-8823-400D-BC59-64388CF4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НДС и налог на прибыль требуют сильной первички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F1372E-14DE-4588-9A8B-A5E43296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67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E3023C-E884-47F5-A503-4040D0147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909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ошибки по ФОТ быстро превращаются в доначисления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F71A8F-6249-4376-8ADF-2289713D7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10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32E3DA-35CD-43AF-9ADE-5E6D3AC5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338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сложные сделки и вычеты нужно сопровождать доказательствами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F48A23-7469-4A4D-9C31-9DC21895A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286000"/>
            <a:ext cx="3276600" cy="26670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D6E288-E537-409F-AFE2-18513824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574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20B70F-B1F0-41F0-811B-AFDB066E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495550"/>
            <a:ext cx="289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УСН, АУСН и ПСН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490376-2AE7-43AD-B948-C3E71D69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971800"/>
            <a:ext cx="28956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03F1C6-FBA9-4482-A2E2-FD4DC434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D528FF-36CF-4717-AAB2-414E1C08B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480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лимиты по выручке и штату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17D64D-D5B4-44F9-80EE-5DD21F35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67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0FDF28-ACDB-4A1A-BE3D-925B8CA7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909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искусственное дробление бизнеса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A9F1A6-99C6-4A52-9508-A918E8E80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10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2C1A48-327F-4AD2-9C66-C7617CA5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338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слабый раздельный учет при совмещении режимов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4D123E-E5B4-4232-9CFF-631B3437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86000"/>
            <a:ext cx="3276600" cy="26670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211147-8299-43D3-9B77-5342D965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4574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CC025A-0B6B-4F2D-A7E2-2B0823C6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95550"/>
            <a:ext cx="289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НПД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B33E3F-238B-42E2-A975-D671D2193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71800"/>
            <a:ext cx="28956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5BA1C1-9AA4-49E5-A553-790C2D4FA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AA09B7-B529-4B53-9730-9DA6B72A3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0480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подмена трудовых отношений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5F59C5-E486-46CF-AE9B-AD8DC418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67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6197E18-287B-4F21-9317-6FCAB867D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909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превышение лимита дохода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0E6FC5-FBFC-4FA5-BB6D-1DBAEE7BC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10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EB9C3C-A644-4FE8-A270-6C639BB1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338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исполнитель фактически встроен в чужой процесс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29E1B2-93D6-4BF1-98B5-216FAE90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Чем проще режим, тем внимательнее нужно следить за правилами его применения.</a:t>
            </a:r>
          </a:p>
        </p:txBody>
      </p:sp>
    </p:spTree>
    <p:extLst>
      <p:ext uri="{BB962C8B-B14F-4D97-AF65-F5344CB8AC3E}">
        <p14:creationId xmlns:p14="http://schemas.microsoft.com/office/powerpoint/2010/main" val="54100927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D0C058-3FBF-43C2-8CCF-9521B2FE9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ДРОБЛЕНИЕ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2792FF-25FE-487C-9331-0E9652C1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A42306-29EC-4969-900A-5725CD3DE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24433F-D1D5-4802-818F-16FD8AB93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Как понять логику дробления бизнеса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77DDC5-6FEB-4B5D-9EC1-D2C4E9B06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Для налоговой главный вопрос всегда один: это самостоятельные компании или искусственно разделенный один бизнес?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213831-9939-47B4-8852-8E48D2C8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876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B8DC4B-4E55-40EC-95E2-B06D4627D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574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8C6663-207F-4FF8-8226-D9BA7E77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449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Основные сигналы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511CBC-260E-409E-A86B-401AB6F65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44958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BB2EB8-8555-48D9-BB34-1437CF5D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C678A5-60BF-4F6D-9A9E-8170E3DA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есть единое контролирующее лицо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903167-B8E0-40B7-970C-017BD419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38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D0ACFB-2492-4B48-9F65-D23424A0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623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один бизнес-процесс формально разделен на несколько лиц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4BDD4B-4DAB-4221-B51B-DF863080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7C695E-83A5-4CCB-BD30-F3EF93EC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7665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подконтрольные компании не принимают самостоятельных решений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6B4CE0-4967-4EEA-A41D-D981569D2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67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41E7AF-50B5-48FA-9B73-8120643B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9097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используются общие сотрудники, активы и контрагенты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09F628-DA46-4050-B6E4-AB5F2370A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A96F96-CC91-47EA-AEA0-2EDEB4FC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ресурсы распределяются формально или безвозмездно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9484F8-E150-4F2B-8C9D-895CFB3D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286000"/>
            <a:ext cx="50292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0CA0BD-DC34-4136-8DDB-0C5B96BA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4574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0CA235-0BDC-40D1-9634-4C92FF48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95550"/>
            <a:ext cx="4648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Что усиливает риск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8E442D-D08F-4056-AB9A-3BC7EE51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7180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DE0464-D0CE-44B1-B00B-70F4BB4D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31F175-5B65-4EF6-99F2-A506235A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480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совпадающие адреса, телефоны, сайты и управленческие функции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D40928-D462-4635-A93A-376878DB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438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AEFB5E-3B7A-4BBD-8175-7FD01A3ED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623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единая касса, общая реклама и общий отдел продаж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B1920A-3471-452A-85E2-D64426095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752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886E2D-E215-4622-B486-92CE84BD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766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резкое перераспределение выручки для сохранения спецрежимов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0B7529-B4D0-4CCD-863B-7581DF2CF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067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6AD7582-D9BA-49BC-B8C2-1D18F2C7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99097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A37"/>
                </a:solidFill>
              </a:defRPr>
            </a:pPr>
            <a:r>
              <a:rPr sz="1350">
                <a:solidFill>
                  <a:srgbClr val="1F2A37"/>
                </a:solidFill>
              </a:rPr>
              <a:t>формальные договоры между зависимыми лицами без деловой цели</a:t>
            </a:r>
          </a:p>
        </p:txBody>
      </p:sp>
    </p:spTree>
    <p:extLst>
      <p:ext uri="{BB962C8B-B14F-4D97-AF65-F5344CB8AC3E}">
        <p14:creationId xmlns:p14="http://schemas.microsoft.com/office/powerpoint/2010/main" val="85855277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039AEE-9299-40FD-8F0A-F9D5E5F4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ДРОБЛЕНИЕ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FBA477-601D-4404-8403-ED2C8011D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AD89C0-EB5B-401A-B679-5BBB383E7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8DC767-1EAB-4D79-867C-277C42E9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Законная структура отличается самостоятельностью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0B009E-4130-4B84-9BDA-106E08D8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Если у каждой компании есть своя деловая логика, ресурсы и результат, это можно доказать документами и процессами.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896242-3F2B-4468-8798-5BE491496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362200" cy="180975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18368A-A478-483D-A8C7-7B68BC261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2019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Самостоятельность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315BF7-8EC2-4E8D-AE5C-AF151344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2019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Есть ли у каждой компании свой руководитель, своя зона решений и отдельный финансовый результат?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15F8F4-07E3-4DE4-B1FC-C3D04C730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381250"/>
            <a:ext cx="2362200" cy="180975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7ADA4C-7C71-4479-A2F5-B3EF1439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552700"/>
            <a:ext cx="2019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Ресурсы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A8E91C-01BA-4C49-BA3D-8F302D9A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143250"/>
            <a:ext cx="2019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Подтверждены ли сотрудники, активы, договоры, расходы и операционная роль каждой единицы?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89AA52-A143-4D5A-97C2-34EC2442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381250"/>
            <a:ext cx="2362200" cy="180975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8B48A3-8180-4078-BC68-F697CF72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552700"/>
            <a:ext cx="2019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Деловая цель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345026-6146-4167-85E2-EA5E0C8D0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143250"/>
            <a:ext cx="2019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Понятно ли, зачем структура создана кроме экономии налога?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81F571-A0E7-4BCA-A1A3-E65EB823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81250"/>
            <a:ext cx="2362200" cy="180975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F35536-0742-4093-B029-982517AAC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552700"/>
            <a:ext cx="2019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Документы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DFFCA5-252D-402F-A030-35208469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43250"/>
            <a:ext cx="2019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Можно ли без спешки собрать доказательства по контрагентам, расчетам и процессам?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4DC639-D8AC-4844-9199-FC23D4CF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10172700" cy="10668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3EADB"/>
          </a:solidFill>
          <a:ln xmlns:a="http://schemas.openxmlformats.org/drawingml/2006/main" w="9525">
            <a:solidFill>
              <a:srgbClr val="F3EA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60D921-28D8-45E2-980C-013D4039C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863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91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D25248-23DA-4855-ADC4-847CD140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24400"/>
            <a:ext cx="9791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Практический вывод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279149-6001-41FF-8690-1844ACDD3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9791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Проблема не в количестве компаний, а в отсутствии самостоятельности и деловой логики внутри группы.</a:t>
            </a:r>
          </a:p>
        </p:txBody>
      </p:sp>
    </p:spTree>
    <p:extLst>
      <p:ext uri="{BB962C8B-B14F-4D97-AF65-F5344CB8AC3E}">
        <p14:creationId xmlns:p14="http://schemas.microsoft.com/office/powerpoint/2010/main" val="202179554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EB62CE-7512-450A-986C-E0F7776B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ТРУДОВЫЕ ОТНОШЕНИЯ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799D0C-E9E2-4309-812A-1A530537F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44F8C4-92BD-4F61-8FC2-29887650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EA5BA5-F057-46DB-A712-07A81517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Когда самозанятость начинает напоминать трудовые отношения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4B804C-8556-41A9-AE5D-9771DB010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Если исполнитель фактически живет по правилам работодателя, безопасный режим НПД превращается в риск.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78C44C-3DEE-4237-895C-E1DC0CEE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0172700" cy="3181350"/>
          </a:xfrm>
          <a:prstGeom xmlns:a="http://schemas.openxmlformats.org/drawingml/2006/main" prst="roundRect">
            <a:avLst>
              <a:gd name="adj" fmla="val 7186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2CB829-DA21-40ED-976A-EB5045915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574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91F12B-2CB9-4C45-AB10-3B6BE0F1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9791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На что смотрят в первую очередь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E62DE3-7542-4DD2-8AD9-C0A7795AD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97917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86DA9D-F7CB-4EA4-A73F-7B0B8701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9E99DE-4128-49B9-A605-B60DFE31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F2A37"/>
                </a:solidFill>
              </a:defRPr>
            </a:pPr>
            <a:r>
              <a:rPr sz="1425">
                <a:solidFill>
                  <a:srgbClr val="1F2A37"/>
                </a:solidFill>
              </a:rPr>
              <a:t>исполнителя просят зарегистрироваться как плательщика НПД под конкретный контракт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679491-595C-4165-9FF1-BC2B2451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38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7C1B52-3734-4040-B4CD-B7F3989E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623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F2A37"/>
                </a:solidFill>
              </a:defRPr>
            </a:pPr>
            <a:r>
              <a:rPr sz="1425">
                <a:solidFill>
                  <a:srgbClr val="1F2A37"/>
                </a:solidFill>
              </a:rPr>
              <a:t>заказчик распределяет людей по объектам и маршрутам исходя из производственной необходимости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523FB1-BF07-4E92-9D01-8704AB8B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9D3819-6CA1-4D72-840B-809D091B5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766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F2A37"/>
                </a:solidFill>
              </a:defRPr>
            </a:pPr>
            <a:r>
              <a:rPr sz="1425">
                <a:solidFill>
                  <a:srgbClr val="1F2A37"/>
                </a:solidFill>
              </a:rPr>
              <a:t>режим работы, смены и время отдыха фактически определяет заказчик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3A829-FFB2-4898-A04A-36A23F2D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67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0A32A4-BCD4-4188-9706-BAB2D858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9097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F2A37"/>
                </a:solidFill>
              </a:defRPr>
            </a:pPr>
            <a:r>
              <a:rPr sz="1425">
                <a:solidFill>
                  <a:srgbClr val="1F2A37"/>
                </a:solidFill>
              </a:rPr>
              <a:t>есть прямой контроль, руководство и встроенность в рабочий процесс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386955-0BAC-4D1E-9E62-3DC7FAF3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280F83-CD99-4056-86FE-A45A14B5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F2A37"/>
                </a:solidFill>
              </a:defRPr>
            </a:pPr>
            <a:r>
              <a:rPr sz="1425">
                <a:solidFill>
                  <a:srgbClr val="1F2A37"/>
                </a:solidFill>
              </a:rPr>
              <a:t>работа выполняется материалами, инструментами и на оборудовании заказчика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8B42FA-8C38-45FB-B60E-B659D243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95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89C37E-84E5-48FB-AA15-14BF30B18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196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F2A37"/>
                </a:solidFill>
              </a:defRPr>
            </a:pPr>
            <a:r>
              <a:rPr sz="1425">
                <a:solidFill>
                  <a:srgbClr val="1F2A37"/>
                </a:solidFill>
              </a:rPr>
              <a:t>оплата организована по логике, похожей на зарплату по ТК РФ</a:t>
            </a:r>
          </a:p>
        </p:txBody>
      </p:sp>
    </p:spTree>
    <p:extLst>
      <p:ext uri="{BB962C8B-B14F-4D97-AF65-F5344CB8AC3E}">
        <p14:creationId xmlns:p14="http://schemas.microsoft.com/office/powerpoint/2010/main" val="4999919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8D0D3B-CC95-4296-B69F-B7EAC421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ТРУДОВЫЕ ОТНОШЕНИЯ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DB14A-13C9-4461-B18F-9DD70424E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D5E752-9D74-40AB-AAC7-D08D09D1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4F1679-EA27-4EC7-AD13-A12DBCB1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F2A37"/>
                </a:solidFill>
              </a:defRPr>
            </a:pPr>
            <a:r>
              <a:rPr sz="2850" b="1">
                <a:solidFill>
                  <a:srgbClr val="1F2A37"/>
                </a:solidFill>
              </a:rPr>
              <a:t>Следы трудовых отношений обычно видны в обычных документах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A102A0-7F13-47EF-871E-895F443C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Даже если договор назвали гражданско-правовым, трудовая модель все равно оставляет следы в операционке.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D1EFE5-67DE-4544-B143-CBCFDD63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2343150" cy="21336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C3D8F9-3B3F-46FF-AB72-17D803C4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336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Пропуска и журналы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ED4F96-C90B-4CE7-BB11-15E6C66A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24200"/>
            <a:ext cx="2000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Оформленный пропуск, журнал прихода и ухода, постоянный доступ на территорию работодателя.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FAEC87-B59B-44D3-A885-46B48651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2343150" cy="21336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368313-CF19-473E-A430-C8C5CA0B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Кадровые документы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7037A9-45FE-4167-A3AD-266DED9A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24200"/>
            <a:ext cx="2000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Графики смен, отпуска, командировки, внутренние распоряжения и другие кадровые следы.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18C871-CAEF-4877-8E18-79A7A91E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62200"/>
            <a:ext cx="2343150" cy="21336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D6FDB4-A2B4-4421-BDBE-728EE4F47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5336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Платежные документы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6377CF-B6A5-4343-9A63-4E585EC8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124200"/>
            <a:ext cx="2000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Расчетные листы, ведомости, системные перечисления денег по модели заработной платы.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A5D16E-0BFF-4CC6-8F11-F9A48BB6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62200"/>
            <a:ext cx="2343150" cy="21336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62860D-6BF8-4770-85DD-08CBAE5A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Хозяйственная деятельность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EDA222-404F-415F-8EF1-EA7690CF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124200"/>
            <a:ext cx="2000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Накладные, отчеты, подписи в документах, инструкции по охране труда, аудио и видео.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3F5D09-ABB0-458D-95B2-0F6C9C02D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001250" cy="819150"/>
          </a:xfrm>
          <a:prstGeom xmlns:a="http://schemas.openxmlformats.org/drawingml/2006/main" prst="roundRect">
            <a:avLst>
              <a:gd name="adj" fmla="val 2790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9525">
            <a:solidFill>
              <a:srgbClr val="D9EC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2D67C3-78E3-4174-9C5B-A1B31EE3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339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B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B8F3F0-FD32-4FEB-940D-9A307542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A37"/>
                </a:solidFill>
              </a:defRPr>
            </a:pPr>
            <a:r>
              <a:rPr sz="1650" b="1">
                <a:solidFill>
                  <a:srgbClr val="1F2A37"/>
                </a:solidFill>
              </a:rPr>
              <a:t>Для собственника это значит одно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001BCC-FF03-4DC5-B494-2EAA245B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48300"/>
            <a:ext cx="9620250" cy="-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7182"/>
                </a:solidFill>
              </a:defRPr>
            </a:pPr>
            <a:r>
              <a:rPr sz="1500">
                <a:solidFill>
                  <a:srgbClr val="657182"/>
                </a:solidFill>
              </a:rPr>
              <a:t>Проверять нужно не только договор, но и весь фактический способ организации работы.</a:t>
            </a:r>
          </a:p>
        </p:txBody>
      </p:sp>
    </p:spTree>
    <p:extLst>
      <p:ext uri="{BB962C8B-B14F-4D97-AF65-F5344CB8AC3E}">
        <p14:creationId xmlns:p14="http://schemas.microsoft.com/office/powerpoint/2010/main" val="207146271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752A49-B971-4DBF-AD89-C1DB2CE31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EC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F6B75"/>
                </a:solidFill>
              </a:defRPr>
            </a:pPr>
            <a:r>
              <a:rPr sz="900" b="1">
                <a:solidFill>
                  <a:srgbClr val="1F6B75"/>
                </a:solidFill>
              </a:rPr>
              <a:t>ФИНАЛ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6A705F-1C92-4226-AAE1-CA02B3B10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8658E8-52D6-41F7-A4E3-F642D4C06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57182"/>
                </a:solidFill>
              </a:defRPr>
            </a:pPr>
            <a:r>
              <a:rPr sz="1050" b="1">
                <a:solidFill>
                  <a:srgbClr val="657182"/>
                </a:solidFill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C8D995-77D2-4ED6-BFEA-B1154377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41148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4E6BE4-D2F9-4F1A-82CF-C716DB3B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4953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F2A37"/>
                </a:solidFill>
              </a:defRPr>
            </a:pPr>
            <a:r>
              <a:rPr sz="3600" b="1">
                <a:solidFill>
                  <a:srgbClr val="1F2A37"/>
                </a:solidFill>
              </a:rPr>
              <a:t>Как проверить</a:t>
            </a:r>
          </a:p>
          <a:p xmlns:a="http://schemas.openxmlformats.org/drawingml/2006/main">
            <a:pPr>
              <a:defRPr sz="3600" b="1">
                <a:solidFill>
                  <a:srgbClr val="1F2A37"/>
                </a:solidFill>
              </a:defRPr>
            </a:pPr>
            <a:r>
              <a:rPr sz="3600" b="1">
                <a:solidFill>
                  <a:srgbClr val="1F2A37"/>
                </a:solidFill>
              </a:rPr>
              <a:t>бухгалтера?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CCB7F4-901E-4586-976B-1E4F81F47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76600"/>
            <a:ext cx="5334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57182"/>
                </a:solidFill>
              </a:defRPr>
            </a:pPr>
            <a:r>
              <a:rPr sz="1650">
                <a:solidFill>
                  <a:srgbClr val="657182"/>
                </a:solidFill>
              </a:rPr>
              <a:t>Проверять нужно не только сдачу отчетности, но и то, насколько бухгалтер понимает логику режима и его риски.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36890E-3302-4C00-89F3-B5D21A2AA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90700"/>
            <a:ext cx="1866900" cy="1466850"/>
          </a:xfrm>
          <a:prstGeom xmlns:a="http://schemas.openxmlformats.org/drawingml/2006/main" prst="roundRect">
            <a:avLst>
              <a:gd name="adj" fmla="val 1558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F56010-3027-4225-8ECD-F26D000E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962150"/>
            <a:ext cx="152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Выбор режима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2DCD3B-3C70-4D31-AB6F-58C1B4FB9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52700"/>
            <a:ext cx="152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Понятно ли, почему выбран именно этот режим.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B1246-3058-4667-9A22-4F72EB371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90700"/>
            <a:ext cx="1866900" cy="1466850"/>
          </a:xfrm>
          <a:prstGeom xmlns:a="http://schemas.openxmlformats.org/drawingml/2006/main" prst="roundRect">
            <a:avLst>
              <a:gd name="adj" fmla="val 1558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ACDE22-7B21-4ADC-9441-A39787C8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62150"/>
            <a:ext cx="152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Контроль лимитов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08E6E9-0CC0-46AD-81F8-F803351C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52700"/>
            <a:ext cx="152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Видит ли бухгалтер пороги и риски заранее.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60066F-AA36-424D-9A57-066B2526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29000"/>
            <a:ext cx="1866900" cy="1466850"/>
          </a:xfrm>
          <a:prstGeom xmlns:a="http://schemas.openxmlformats.org/drawingml/2006/main" prst="roundRect">
            <a:avLst>
              <a:gd name="adj" fmla="val 1558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698F18-6CD9-4ABE-B54E-B318D824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00450"/>
            <a:ext cx="152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Документы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A8B1E4-79B1-46DE-9DD0-3EC22346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191000"/>
            <a:ext cx="152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Можно ли быстро собрать доказательства по спорным зонам.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7FD21F-72A0-4780-83DD-B44053F1D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29000"/>
            <a:ext cx="1866900" cy="1466850"/>
          </a:xfrm>
          <a:prstGeom xmlns:a="http://schemas.openxmlformats.org/drawingml/2006/main" prst="roundRect">
            <a:avLst>
              <a:gd name="adj" fmla="val 1558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DED8C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A5275C-859F-45DE-AF00-092907E6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600450"/>
            <a:ext cx="152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2A37"/>
                </a:solidFill>
              </a:defRPr>
            </a:pPr>
            <a:r>
              <a:rPr sz="1500" b="1">
                <a:solidFill>
                  <a:srgbClr val="1F2A37"/>
                </a:solidFill>
              </a:rPr>
              <a:t>Объяснение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7DF47E-C468-441A-A31E-A5AED4B8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191000"/>
            <a:ext cx="152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182"/>
                </a:solidFill>
              </a:defRPr>
            </a:pPr>
            <a:r>
              <a:rPr sz="1275">
                <a:solidFill>
                  <a:srgbClr val="657182"/>
                </a:solidFill>
              </a:rPr>
              <a:t>Может ли бухгалтер объяснить решение простым языком.</a:t>
            </a:r>
          </a:p>
        </p:txBody>
      </p:sp>
    </p:spTree>
    <p:extLst>
      <p:ext uri="{BB962C8B-B14F-4D97-AF65-F5344CB8AC3E}">
        <p14:creationId xmlns:p14="http://schemas.microsoft.com/office/powerpoint/2010/main" val="17392725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2026-07-02T07:41:22.5340000Z</dcterms:created>
  <dcterms:modified xsi:type="dcterms:W3CDTF">2026-07-02T07:41:22.5340000Z</dcterms:modified>
</coreProperties>
</file>